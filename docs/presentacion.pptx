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8" r:id="rId4"/>
    <p:sldMasterId id="214748367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5143500" cx="9144000"/>
  <p:notesSz cx="6858000" cy="9144000"/>
  <p:embeddedFontLst>
    <p:embeddedFont>
      <p:font typeface="Lato"/>
      <p:regular r:id="rId37"/>
      <p:bold r:id="rId38"/>
      <p:italic r:id="rId39"/>
      <p:boldItalic r:id="rId40"/>
    </p:embeddedFont>
    <p:embeddedFont>
      <p:font typeface="Work Sans ExtraBold"/>
      <p:bold r:id="rId41"/>
      <p:boldItalic r:id="rId42"/>
    </p:embeddedFont>
    <p:embeddedFont>
      <p:font typeface="Work Sans Black"/>
      <p:bold r:id="rId43"/>
      <p:boldItalic r:id="rId44"/>
    </p:embeddedFont>
    <p:embeddedFont>
      <p:font typeface="Urbanist"/>
      <p:regular r:id="rId45"/>
      <p:bold r:id="rId46"/>
      <p:italic r:id="rId47"/>
      <p:boldItalic r:id="rId48"/>
    </p:embeddedFont>
    <p:embeddedFont>
      <p:font typeface="Work Sans"/>
      <p:regular r:id="rId49"/>
      <p:bold r:id="rId50"/>
      <p:italic r:id="rId51"/>
      <p:boldItalic r:id="rId52"/>
    </p:embeddedFont>
    <p:embeddedFont>
      <p:font typeface="Work Sans SemiBold"/>
      <p:regular r:id="rId53"/>
      <p:bold r:id="rId54"/>
      <p:italic r:id="rId55"/>
      <p:boldItalic r:id="rId5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Lato-boldItalic.fntdata"/><Relationship Id="rId42" Type="http://schemas.openxmlformats.org/officeDocument/2006/relationships/font" Target="fonts/WorkSansExtraBold-boldItalic.fntdata"/><Relationship Id="rId41" Type="http://schemas.openxmlformats.org/officeDocument/2006/relationships/font" Target="fonts/WorkSansExtraBold-bold.fntdata"/><Relationship Id="rId44" Type="http://schemas.openxmlformats.org/officeDocument/2006/relationships/font" Target="fonts/WorkSansBlack-boldItalic.fntdata"/><Relationship Id="rId43" Type="http://schemas.openxmlformats.org/officeDocument/2006/relationships/font" Target="fonts/WorkSansBlack-bold.fntdata"/><Relationship Id="rId46" Type="http://schemas.openxmlformats.org/officeDocument/2006/relationships/font" Target="fonts/Urbanist-bold.fntdata"/><Relationship Id="rId45" Type="http://schemas.openxmlformats.org/officeDocument/2006/relationships/font" Target="fonts/Urbanist-regular.fntdata"/><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font" Target="fonts/Urbanist-boldItalic.fntdata"/><Relationship Id="rId47" Type="http://schemas.openxmlformats.org/officeDocument/2006/relationships/font" Target="fonts/Urbanist-italic.fntdata"/><Relationship Id="rId49" Type="http://schemas.openxmlformats.org/officeDocument/2006/relationships/font" Target="fonts/WorkSans-regular.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font" Target="fonts/Lato-regular.fntdata"/><Relationship Id="rId36" Type="http://schemas.openxmlformats.org/officeDocument/2006/relationships/slide" Target="slides/slide30.xml"/><Relationship Id="rId39" Type="http://schemas.openxmlformats.org/officeDocument/2006/relationships/font" Target="fonts/Lato-italic.fntdata"/><Relationship Id="rId38" Type="http://schemas.openxmlformats.org/officeDocument/2006/relationships/font" Target="fonts/Lato-bold.fnt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WorkSans-italic.fntdata"/><Relationship Id="rId50" Type="http://schemas.openxmlformats.org/officeDocument/2006/relationships/font" Target="fonts/WorkSans-bold.fntdata"/><Relationship Id="rId53" Type="http://schemas.openxmlformats.org/officeDocument/2006/relationships/font" Target="fonts/WorkSansSemiBold-regular.fntdata"/><Relationship Id="rId52" Type="http://schemas.openxmlformats.org/officeDocument/2006/relationships/font" Target="fonts/WorkSans-boldItalic.fntdata"/><Relationship Id="rId11" Type="http://schemas.openxmlformats.org/officeDocument/2006/relationships/slide" Target="slides/slide5.xml"/><Relationship Id="rId55" Type="http://schemas.openxmlformats.org/officeDocument/2006/relationships/font" Target="fonts/WorkSansSemiBold-italic.fntdata"/><Relationship Id="rId10" Type="http://schemas.openxmlformats.org/officeDocument/2006/relationships/slide" Target="slides/slide4.xml"/><Relationship Id="rId54" Type="http://schemas.openxmlformats.org/officeDocument/2006/relationships/font" Target="fonts/WorkSansSemiBold-bold.fntdata"/><Relationship Id="rId13" Type="http://schemas.openxmlformats.org/officeDocument/2006/relationships/slide" Target="slides/slide7.xml"/><Relationship Id="rId12" Type="http://schemas.openxmlformats.org/officeDocument/2006/relationships/slide" Target="slides/slide6.xml"/><Relationship Id="rId56" Type="http://schemas.openxmlformats.org/officeDocument/2006/relationships/font" Target="fonts/WorkSansSemiBold-boldItalic.fntdata"/><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e207df054d_1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g3e207df054d_1_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78" name="Google Shape;178;g3e207df054d_1_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s-419"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e207df054d_1_17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g3e207df054d_1_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185" name="Google Shape;185;g3e207df054d_1_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e207df054d_1_1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 name="Google Shape;197;g3e207df054d_1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198" name="Google Shape;198;g3e207df054d_1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e207df054d_1_20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 name="Google Shape;210;g3e207df054d_1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211" name="Google Shape;211;g3e207df054d_1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e207df054d_1_2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 name="Google Shape;223;g3e207df054d_1_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224" name="Google Shape;224;g3e207df054d_1_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e207df054d_1_25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 name="Google Shape;267;g3e207df054d_1_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268" name="Google Shape;268;g3e207df054d_1_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g3e207df054d_1_26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9" name="Google Shape;279;g3e207df054d_1_2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280" name="Google Shape;280;g3e207df054d_1_2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g3e207df054d_1_28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2" name="Google Shape;312;g3e207df054d_1_2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313" name="Google Shape;313;g3e207df054d_1_2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3e207df054d_1_30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 name="Google Shape;338;g3e207df054d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339" name="Google Shape;339;g3e207df054d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e207df054d_1_3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 name="Google Shape;345;g3e207df054d_1_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346" name="Google Shape;346;g3e207df054d_1_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e207df054d_1_3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1" name="Google Shape;361;g3e207df054d_1_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362" name="Google Shape;362;g3e207df054d_1_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3e207df054d_1_34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 name="Google Shape;377;g3e207df054d_1_3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378" name="Google Shape;378;g3e207df054d_1_3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e207cfcd47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g3e207cfcd47_0_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388" name="Google Shape;388;g3e207cfcd47_0_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e207cfcd47_0_46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5" name="Google Shape;395;g3e207cfcd47_0_4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396" name="Google Shape;396;g3e207cfcd47_0_4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e207cfcd47_0_47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 name="Google Shape;402;g3e207cfcd47_0_4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03" name="Google Shape;403;g3e207cfcd47_0_4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3e207cfcd47_0_112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g3e207cfcd47_0_1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24" name="Google Shape;424;g3e207cfcd47_0_1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3e207cfcd47_0_140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g3e207cfcd47_0_14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35" name="Google Shape;435;g3e207cfcd47_0_14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g3e207df054d_1_35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4" name="Google Shape;454;g3e207df054d_1_3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55" name="Google Shape;455;g3e207df054d_1_3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g3e207df054d_1_35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1" name="Google Shape;461;g3e207df054d_1_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62" name="Google Shape;462;g3e207df054d_1_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6" name="Shape 466"/>
        <p:cNvGrpSpPr/>
        <p:nvPr/>
      </p:nvGrpSpPr>
      <p:grpSpPr>
        <a:xfrm>
          <a:off x="0" y="0"/>
          <a:ext cx="0" cy="0"/>
          <a:chOff x="0" y="0"/>
          <a:chExt cx="0" cy="0"/>
        </a:xfrm>
      </p:grpSpPr>
      <p:sp>
        <p:nvSpPr>
          <p:cNvPr id="467" name="Google Shape;467;g3e207cfcd47_0_17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8" name="Google Shape;468;g3e207cfcd47_0_1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69" name="Google Shape;469;g3e207cfcd47_0_1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3e207cfcd47_0_17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6" name="Google Shape;476;g3e207cfcd47_0_1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77" name="Google Shape;477;g3e207cfcd47_0_1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3" name="Shape 483"/>
        <p:cNvGrpSpPr/>
        <p:nvPr/>
      </p:nvGrpSpPr>
      <p:grpSpPr>
        <a:xfrm>
          <a:off x="0" y="0"/>
          <a:ext cx="0" cy="0"/>
          <a:chOff x="0" y="0"/>
          <a:chExt cx="0" cy="0"/>
        </a:xfrm>
      </p:grpSpPr>
      <p:sp>
        <p:nvSpPr>
          <p:cNvPr id="484" name="Google Shape;484;g3e207df054d_1_36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5" name="Google Shape;485;g3e207df054d_1_3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86" name="Google Shape;486;g3e207df054d_1_3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g3e207cfcd47_0_18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2" name="Google Shape;492;g3e207cfcd47_0_18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493" name="Google Shape;493;g3e207cfcd47_0_18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g3e207cfcd47_0_1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g3e207cfcd47_0_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500" name="Google Shape;500;g3e207cfcd47_0_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g3e207cfcd47_0_18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g3e207cfcd47_0_18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507" name="Google Shape;507;g3e207cfcd47_0_18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g3e207cfcd47_0_184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 name="Google Shape;513;g3e207cfcd47_0_18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514" name="Google Shape;514;g3e207cfcd47_0_18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g3e207cfcd47_0_185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g3e207cfcd47_0_18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522" name="Google Shape;522;g3e207cfcd47_0_18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g3e207cfcd47_0_186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4" name="Google Shape;534;g3e207cfcd47_0_18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535" name="Google Shape;535;g3e207cfcd47_0_18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e207df054d_1_36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1" name="Google Shape;541;g3e207df054d_1_3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171450" lvl="0" marL="171450" rtl="0" algn="l">
              <a:lnSpc>
                <a:spcPct val="100000"/>
              </a:lnSpc>
              <a:spcBef>
                <a:spcPts val="0"/>
              </a:spcBef>
              <a:spcAft>
                <a:spcPts val="0"/>
              </a:spcAft>
              <a:buClr>
                <a:schemeClr val="dk1"/>
              </a:buClr>
              <a:buSzPts val="1200"/>
              <a:buFont typeface="Calibri"/>
              <a:buChar char="-"/>
            </a:pPr>
            <a:r>
              <a:rPr lang="es-419"/>
              <a:t>Utilice esta diapositiva para incluir tablas y gráficos.</a:t>
            </a:r>
            <a:endParaRPr/>
          </a:p>
          <a:p>
            <a:pPr indent="-171450" lvl="0" marL="171450" rtl="0" algn="l">
              <a:lnSpc>
                <a:spcPct val="100000"/>
              </a:lnSpc>
              <a:spcBef>
                <a:spcPts val="0"/>
              </a:spcBef>
              <a:spcAft>
                <a:spcPts val="0"/>
              </a:spcAft>
              <a:buClr>
                <a:schemeClr val="dk1"/>
              </a:buClr>
              <a:buSzPts val="1200"/>
              <a:buFont typeface="Calibri"/>
              <a:buChar char="-"/>
            </a:pPr>
            <a:r>
              <a:rPr lang="es-419"/>
              <a:t>Los textos deben ir en azul (utilice el azul que aparece en la opciones de color de letra - -&gt; colores recientes) en tipografía Arial.</a:t>
            </a:r>
            <a:endParaRPr/>
          </a:p>
        </p:txBody>
      </p:sp>
      <p:sp>
        <p:nvSpPr>
          <p:cNvPr id="542" name="Google Shape;542;g3e207df054d_1_3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s-419"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e207df054d_1_375:notes"/>
          <p:cNvSpPr txBox="1"/>
          <p:nvPr>
            <p:ph idx="1" type="body"/>
          </p:nvPr>
        </p:nvSpPr>
        <p:spPr>
          <a:xfrm>
            <a:off x="685800" y="4400550"/>
            <a:ext cx="5486400" cy="360045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48" name="Google Shape;548;g3e207df054d_1_3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seño personalizado">
  <p:cSld name="Diseño personalizado">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 name="Google Shape;13;p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 name="Google Shape;14;p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 name="Google Shape;15;p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apositiva de título">
  <p:cSld name="1_Diapositiva de título">
    <p:spTree>
      <p:nvGrpSpPr>
        <p:cNvPr id="16" name="Shape 16"/>
        <p:cNvGrpSpPr/>
        <p:nvPr/>
      </p:nvGrpSpPr>
      <p:grpSpPr>
        <a:xfrm>
          <a:off x="0" y="0"/>
          <a:ext cx="0" cy="0"/>
          <a:chOff x="0" y="0"/>
          <a:chExt cx="0" cy="0"/>
        </a:xfrm>
      </p:grpSpPr>
      <p:pic>
        <p:nvPicPr>
          <p:cNvPr descr="Interfaz de usuario gráfica, Texto, Aplicación&#10;&#10;Descripción generada automáticamente" id="17" name="Google Shape;17;p3"/>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type="blank">
  <p:cSld name="BLANK">
    <p:spTree>
      <p:nvGrpSpPr>
        <p:cNvPr id="18" name="Shape 18"/>
        <p:cNvGrpSpPr/>
        <p:nvPr/>
      </p:nvGrpSpPr>
      <p:grpSpPr>
        <a:xfrm>
          <a:off x="0" y="0"/>
          <a:ext cx="0" cy="0"/>
          <a:chOff x="0" y="0"/>
          <a:chExt cx="0" cy="0"/>
        </a:xfrm>
      </p:grpSpPr>
      <p:sp>
        <p:nvSpPr>
          <p:cNvPr id="19" name="Google Shape;19;p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0" name="Google Shape;20;p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 name="Google Shape;21;p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22" name="Shape 22"/>
        <p:cNvGrpSpPr/>
        <p:nvPr/>
      </p:nvGrpSpPr>
      <p:grpSpPr>
        <a:xfrm>
          <a:off x="0" y="0"/>
          <a:ext cx="0" cy="0"/>
          <a:chOff x="0" y="0"/>
          <a:chExt cx="0" cy="0"/>
        </a:xfrm>
      </p:grpSpPr>
      <p:sp>
        <p:nvSpPr>
          <p:cNvPr id="23" name="Google Shape;23;p5"/>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4" name="Google Shape;24;p5"/>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25" name="Google Shape;25;p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6" name="Google Shape;26;p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7" name="Google Shape;27;p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type="obj">
  <p:cSld name="OBJECT">
    <p:spTree>
      <p:nvGrpSpPr>
        <p:cNvPr id="28" name="Shape 28"/>
        <p:cNvGrpSpPr/>
        <p:nvPr/>
      </p:nvGrpSpPr>
      <p:grpSpPr>
        <a:xfrm>
          <a:off x="0" y="0"/>
          <a:ext cx="0" cy="0"/>
          <a:chOff x="0" y="0"/>
          <a:chExt cx="0" cy="0"/>
        </a:xfrm>
      </p:grpSpPr>
      <p:sp>
        <p:nvSpPr>
          <p:cNvPr id="29" name="Google Shape;29;p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0" name="Google Shape;30;p6"/>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1" name="Google Shape;31;p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 name="Google Shape;32;p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 name="Google Shape;33;p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type="secHead">
  <p:cSld name="SECTION_HEADER">
    <p:spTree>
      <p:nvGrpSpPr>
        <p:cNvPr id="34" name="Shape 34"/>
        <p:cNvGrpSpPr/>
        <p:nvPr/>
      </p:nvGrpSpPr>
      <p:grpSpPr>
        <a:xfrm>
          <a:off x="0" y="0"/>
          <a:ext cx="0" cy="0"/>
          <a:chOff x="0" y="0"/>
          <a:chExt cx="0" cy="0"/>
        </a:xfrm>
      </p:grpSpPr>
      <p:sp>
        <p:nvSpPr>
          <p:cNvPr id="35" name="Google Shape;35;p7"/>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 name="Google Shape;36;p7"/>
          <p:cNvSpPr txBox="1"/>
          <p:nvPr>
            <p:ph idx="1" type="body"/>
          </p:nvPr>
        </p:nvSpPr>
        <p:spPr>
          <a:xfrm>
            <a:off x="623888" y="3442097"/>
            <a:ext cx="7886700" cy="11250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37" name="Google Shape;37;p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8" name="Google Shape;38;p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9" name="Google Shape;39;p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os objetos" type="twoObj">
  <p:cSld name="TWO_OBJECTS">
    <p:spTree>
      <p:nvGrpSpPr>
        <p:cNvPr id="40" name="Shape 40"/>
        <p:cNvGrpSpPr/>
        <p:nvPr/>
      </p:nvGrpSpPr>
      <p:grpSpPr>
        <a:xfrm>
          <a:off x="0" y="0"/>
          <a:ext cx="0" cy="0"/>
          <a:chOff x="0" y="0"/>
          <a:chExt cx="0" cy="0"/>
        </a:xfrm>
      </p:grpSpPr>
      <p:sp>
        <p:nvSpPr>
          <p:cNvPr id="41" name="Google Shape;41;p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2" name="Google Shape;42;p8"/>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3" name="Google Shape;43;p8"/>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4" name="Google Shape;44;p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5" name="Google Shape;45;p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6" name="Google Shape;46;p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ción" type="twoTxTwoObj">
  <p:cSld name="TWO_OBJECTS_WITH_TEXT">
    <p:spTree>
      <p:nvGrpSpPr>
        <p:cNvPr id="47" name="Shape 47"/>
        <p:cNvGrpSpPr/>
        <p:nvPr/>
      </p:nvGrpSpPr>
      <p:grpSpPr>
        <a:xfrm>
          <a:off x="0" y="0"/>
          <a:ext cx="0" cy="0"/>
          <a:chOff x="0" y="0"/>
          <a:chExt cx="0" cy="0"/>
        </a:xfrm>
      </p:grpSpPr>
      <p:sp>
        <p:nvSpPr>
          <p:cNvPr id="48" name="Google Shape;48;p9"/>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9" name="Google Shape;49;p9"/>
          <p:cNvSpPr txBox="1"/>
          <p:nvPr>
            <p:ph idx="1" type="body"/>
          </p:nvPr>
        </p:nvSpPr>
        <p:spPr>
          <a:xfrm>
            <a:off x="629841" y="1260872"/>
            <a:ext cx="38682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50" name="Google Shape;50;p9"/>
          <p:cNvSpPr txBox="1"/>
          <p:nvPr>
            <p:ph idx="2" type="body"/>
          </p:nvPr>
        </p:nvSpPr>
        <p:spPr>
          <a:xfrm>
            <a:off x="629841" y="1878806"/>
            <a:ext cx="3868200" cy="27633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51" name="Google Shape;51;p9"/>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52" name="Google Shape;52;p9"/>
          <p:cNvSpPr txBox="1"/>
          <p:nvPr>
            <p:ph idx="4" type="body"/>
          </p:nvPr>
        </p:nvSpPr>
        <p:spPr>
          <a:xfrm>
            <a:off x="4629150" y="1878806"/>
            <a:ext cx="3887400" cy="27633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53" name="Google Shape;53;p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4" name="Google Shape;54;p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5" name="Google Shape;55;p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56" name="Shape 56"/>
        <p:cNvGrpSpPr/>
        <p:nvPr/>
      </p:nvGrpSpPr>
      <p:grpSpPr>
        <a:xfrm>
          <a:off x="0" y="0"/>
          <a:ext cx="0" cy="0"/>
          <a:chOff x="0" y="0"/>
          <a:chExt cx="0" cy="0"/>
        </a:xfrm>
      </p:grpSpPr>
      <p:sp>
        <p:nvSpPr>
          <p:cNvPr id="57" name="Google Shape;57;p1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8" name="Google Shape;58;p1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9" name="Google Shape;59;p1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1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con título" type="objTx">
  <p:cSld name="OBJECT_WITH_CAPTION_TEXT">
    <p:spTree>
      <p:nvGrpSpPr>
        <p:cNvPr id="61" name="Shape 61"/>
        <p:cNvGrpSpPr/>
        <p:nvPr/>
      </p:nvGrpSpPr>
      <p:grpSpPr>
        <a:xfrm>
          <a:off x="0" y="0"/>
          <a:ext cx="0" cy="0"/>
          <a:chOff x="0" y="0"/>
          <a:chExt cx="0" cy="0"/>
        </a:xfrm>
      </p:grpSpPr>
      <p:sp>
        <p:nvSpPr>
          <p:cNvPr id="62" name="Google Shape;62;p11"/>
          <p:cNvSpPr txBox="1"/>
          <p:nvPr>
            <p:ph type="title"/>
          </p:nvPr>
        </p:nvSpPr>
        <p:spPr>
          <a:xfrm>
            <a:off x="629841" y="342900"/>
            <a:ext cx="29493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3" name="Google Shape;63;p11"/>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64" name="Google Shape;64;p11"/>
          <p:cNvSpPr txBox="1"/>
          <p:nvPr>
            <p:ph idx="2" type="body"/>
          </p:nvPr>
        </p:nvSpPr>
        <p:spPr>
          <a:xfrm>
            <a:off x="629841" y="1543050"/>
            <a:ext cx="29493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Google Shape;65;p1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1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7" name="Google Shape;67;p1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n con título" type="picTx">
  <p:cSld name="PICTURE_WITH_CAPTION_TEXT">
    <p:spTree>
      <p:nvGrpSpPr>
        <p:cNvPr id="68" name="Shape 68"/>
        <p:cNvGrpSpPr/>
        <p:nvPr/>
      </p:nvGrpSpPr>
      <p:grpSpPr>
        <a:xfrm>
          <a:off x="0" y="0"/>
          <a:ext cx="0" cy="0"/>
          <a:chOff x="0" y="0"/>
          <a:chExt cx="0" cy="0"/>
        </a:xfrm>
      </p:grpSpPr>
      <p:sp>
        <p:nvSpPr>
          <p:cNvPr id="69" name="Google Shape;69;p12"/>
          <p:cNvSpPr txBox="1"/>
          <p:nvPr>
            <p:ph type="title"/>
          </p:nvPr>
        </p:nvSpPr>
        <p:spPr>
          <a:xfrm>
            <a:off x="629841" y="342900"/>
            <a:ext cx="29493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12"/>
          <p:cNvSpPr/>
          <p:nvPr>
            <p:ph idx="2" type="pic"/>
          </p:nvPr>
        </p:nvSpPr>
        <p:spPr>
          <a:xfrm>
            <a:off x="3887391" y="740569"/>
            <a:ext cx="4629300" cy="3655200"/>
          </a:xfrm>
          <a:prstGeom prst="rect">
            <a:avLst/>
          </a:prstGeom>
          <a:noFill/>
          <a:ln>
            <a:noFill/>
          </a:ln>
        </p:spPr>
      </p:sp>
      <p:sp>
        <p:nvSpPr>
          <p:cNvPr id="71" name="Google Shape;71;p12"/>
          <p:cNvSpPr txBox="1"/>
          <p:nvPr>
            <p:ph idx="1" type="body"/>
          </p:nvPr>
        </p:nvSpPr>
        <p:spPr>
          <a:xfrm>
            <a:off x="629841" y="1543050"/>
            <a:ext cx="29493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72" name="Google Shape;72;p1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1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4" name="Google Shape;74;p1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texto vertical" type="vertTx">
  <p:cSld name="VERTICAL_TEXT">
    <p:spTree>
      <p:nvGrpSpPr>
        <p:cNvPr id="75" name="Shape 75"/>
        <p:cNvGrpSpPr/>
        <p:nvPr/>
      </p:nvGrpSpPr>
      <p:grpSpPr>
        <a:xfrm>
          <a:off x="0" y="0"/>
          <a:ext cx="0" cy="0"/>
          <a:chOff x="0" y="0"/>
          <a:chExt cx="0" cy="0"/>
        </a:xfrm>
      </p:grpSpPr>
      <p:sp>
        <p:nvSpPr>
          <p:cNvPr id="76" name="Google Shape;76;p1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7" name="Google Shape;77;p13"/>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8" name="Google Shape;78;p1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1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0" name="Google Shape;80;p1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ertical y texto" type="vertTitleAndTx">
  <p:cSld name="VERTICAL_TITLE_AND_VERTICAL_TEXT">
    <p:spTree>
      <p:nvGrpSpPr>
        <p:cNvPr id="81" name="Shape 81"/>
        <p:cNvGrpSpPr/>
        <p:nvPr/>
      </p:nvGrpSpPr>
      <p:grpSpPr>
        <a:xfrm>
          <a:off x="0" y="0"/>
          <a:ext cx="0" cy="0"/>
          <a:chOff x="0" y="0"/>
          <a:chExt cx="0" cy="0"/>
        </a:xfrm>
      </p:grpSpPr>
      <p:sp>
        <p:nvSpPr>
          <p:cNvPr id="82" name="Google Shape;82;p14"/>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3" name="Google Shape;83;p14"/>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 name="Google Shape;84;p1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1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6" name="Google Shape;86;p1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mparación">
  <p:cSld name="1_Comparación">
    <p:spTree>
      <p:nvGrpSpPr>
        <p:cNvPr id="87" name="Shape 87"/>
        <p:cNvGrpSpPr/>
        <p:nvPr/>
      </p:nvGrpSpPr>
      <p:grpSpPr>
        <a:xfrm>
          <a:off x="0" y="0"/>
          <a:ext cx="0" cy="0"/>
          <a:chOff x="0" y="0"/>
          <a:chExt cx="0" cy="0"/>
        </a:xfrm>
      </p:grpSpPr>
      <p:pic>
        <p:nvPicPr>
          <p:cNvPr id="88" name="Google Shape;88;p15"/>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39a7cb7eca0_9_0)">
  <p:cSld name="Generated (g39a7cb7eca0_9_0)">
    <p:spTree>
      <p:nvGrpSpPr>
        <p:cNvPr id="89" name="Shape 89"/>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seño personalizado">
  <p:cSld name="Diseño personalizado">
    <p:bg>
      <p:bgPr>
        <a:blipFill>
          <a:blip r:embed="rId2">
            <a:alphaModFix/>
          </a:blip>
          <a:stretch>
            <a:fillRect/>
          </a:stretch>
        </a:blipFill>
      </p:bgPr>
    </p:bg>
    <p:spTree>
      <p:nvGrpSpPr>
        <p:cNvPr id="96" name="Shape 96"/>
        <p:cNvGrpSpPr/>
        <p:nvPr/>
      </p:nvGrpSpPr>
      <p:grpSpPr>
        <a:xfrm>
          <a:off x="0" y="0"/>
          <a:ext cx="0" cy="0"/>
          <a:chOff x="0" y="0"/>
          <a:chExt cx="0" cy="0"/>
        </a:xfrm>
      </p:grpSpPr>
      <p:sp>
        <p:nvSpPr>
          <p:cNvPr id="97" name="Google Shape;97;p1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8" name="Google Shape;98;p1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9" name="Google Shape;99;p1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1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Diapositiva de título">
  <p:cSld name="1_Diapositiva de título">
    <p:spTree>
      <p:nvGrpSpPr>
        <p:cNvPr id="101" name="Shape 101"/>
        <p:cNvGrpSpPr/>
        <p:nvPr/>
      </p:nvGrpSpPr>
      <p:grpSpPr>
        <a:xfrm>
          <a:off x="0" y="0"/>
          <a:ext cx="0" cy="0"/>
          <a:chOff x="0" y="0"/>
          <a:chExt cx="0" cy="0"/>
        </a:xfrm>
      </p:grpSpPr>
      <p:pic>
        <p:nvPicPr>
          <p:cNvPr descr="Interfaz de usuario gráfica, Texto, Aplicación&#10;&#10;Descripción generada automáticamente" id="102" name="Google Shape;102;p19"/>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type="blank">
  <p:cSld name="BLANK">
    <p:spTree>
      <p:nvGrpSpPr>
        <p:cNvPr id="103" name="Shape 103"/>
        <p:cNvGrpSpPr/>
        <p:nvPr/>
      </p:nvGrpSpPr>
      <p:grpSpPr>
        <a:xfrm>
          <a:off x="0" y="0"/>
          <a:ext cx="0" cy="0"/>
          <a:chOff x="0" y="0"/>
          <a:chExt cx="0" cy="0"/>
        </a:xfrm>
      </p:grpSpPr>
      <p:sp>
        <p:nvSpPr>
          <p:cNvPr id="104" name="Google Shape;104;p2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2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6" name="Google Shape;106;p2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107" name="Shape 107"/>
        <p:cNvGrpSpPr/>
        <p:nvPr/>
      </p:nvGrpSpPr>
      <p:grpSpPr>
        <a:xfrm>
          <a:off x="0" y="0"/>
          <a:ext cx="0" cy="0"/>
          <a:chOff x="0" y="0"/>
          <a:chExt cx="0" cy="0"/>
        </a:xfrm>
      </p:grpSpPr>
      <p:sp>
        <p:nvSpPr>
          <p:cNvPr id="108" name="Google Shape;108;p2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2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10" name="Google Shape;110;p2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1" name="Google Shape;111;p2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2" name="Google Shape;112;p2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type="obj">
  <p:cSld name="OBJECT">
    <p:spTree>
      <p:nvGrpSpPr>
        <p:cNvPr id="113" name="Shape 113"/>
        <p:cNvGrpSpPr/>
        <p:nvPr/>
      </p:nvGrpSpPr>
      <p:grpSpPr>
        <a:xfrm>
          <a:off x="0" y="0"/>
          <a:ext cx="0" cy="0"/>
          <a:chOff x="0" y="0"/>
          <a:chExt cx="0" cy="0"/>
        </a:xfrm>
      </p:grpSpPr>
      <p:sp>
        <p:nvSpPr>
          <p:cNvPr id="114" name="Google Shape;114;p2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5" name="Google Shape;115;p2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16" name="Google Shape;116;p2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2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8" name="Google Shape;118;p2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type="secHead">
  <p:cSld name="SECTION_HEADER">
    <p:spTree>
      <p:nvGrpSpPr>
        <p:cNvPr id="119" name="Shape 119"/>
        <p:cNvGrpSpPr/>
        <p:nvPr/>
      </p:nvGrpSpPr>
      <p:grpSpPr>
        <a:xfrm>
          <a:off x="0" y="0"/>
          <a:ext cx="0" cy="0"/>
          <a:chOff x="0" y="0"/>
          <a:chExt cx="0" cy="0"/>
        </a:xfrm>
      </p:grpSpPr>
      <p:sp>
        <p:nvSpPr>
          <p:cNvPr id="120" name="Google Shape;120;p2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1" name="Google Shape;121;p23"/>
          <p:cNvSpPr txBox="1"/>
          <p:nvPr>
            <p:ph idx="1" type="body"/>
          </p:nvPr>
        </p:nvSpPr>
        <p:spPr>
          <a:xfrm>
            <a:off x="623888" y="3442097"/>
            <a:ext cx="7886700" cy="11250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122" name="Google Shape;122;p2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2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2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os objetos" type="twoObj">
  <p:cSld name="TWO_OBJECTS">
    <p:spTree>
      <p:nvGrpSpPr>
        <p:cNvPr id="125" name="Shape 125"/>
        <p:cNvGrpSpPr/>
        <p:nvPr/>
      </p:nvGrpSpPr>
      <p:grpSpPr>
        <a:xfrm>
          <a:off x="0" y="0"/>
          <a:ext cx="0" cy="0"/>
          <a:chOff x="0" y="0"/>
          <a:chExt cx="0" cy="0"/>
        </a:xfrm>
      </p:grpSpPr>
      <p:sp>
        <p:nvSpPr>
          <p:cNvPr id="126" name="Google Shape;126;p2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7" name="Google Shape;127;p2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8" name="Google Shape;128;p2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9" name="Google Shape;129;p2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2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1" name="Google Shape;131;p2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ción" type="twoTxTwoObj">
  <p:cSld name="TWO_OBJECTS_WITH_TEXT">
    <p:spTree>
      <p:nvGrpSpPr>
        <p:cNvPr id="132" name="Shape 132"/>
        <p:cNvGrpSpPr/>
        <p:nvPr/>
      </p:nvGrpSpPr>
      <p:grpSpPr>
        <a:xfrm>
          <a:off x="0" y="0"/>
          <a:ext cx="0" cy="0"/>
          <a:chOff x="0" y="0"/>
          <a:chExt cx="0" cy="0"/>
        </a:xfrm>
      </p:grpSpPr>
      <p:sp>
        <p:nvSpPr>
          <p:cNvPr id="133" name="Google Shape;133;p2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4" name="Google Shape;134;p25"/>
          <p:cNvSpPr txBox="1"/>
          <p:nvPr>
            <p:ph idx="1" type="body"/>
          </p:nvPr>
        </p:nvSpPr>
        <p:spPr>
          <a:xfrm>
            <a:off x="629841" y="1260872"/>
            <a:ext cx="38682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135" name="Google Shape;135;p25"/>
          <p:cNvSpPr txBox="1"/>
          <p:nvPr>
            <p:ph idx="2" type="body"/>
          </p:nvPr>
        </p:nvSpPr>
        <p:spPr>
          <a:xfrm>
            <a:off x="629841" y="1878806"/>
            <a:ext cx="3868200" cy="27633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6" name="Google Shape;136;p2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137" name="Google Shape;137;p25"/>
          <p:cNvSpPr txBox="1"/>
          <p:nvPr>
            <p:ph idx="4" type="body"/>
          </p:nvPr>
        </p:nvSpPr>
        <p:spPr>
          <a:xfrm>
            <a:off x="4629150" y="1878806"/>
            <a:ext cx="3887400" cy="27633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8" name="Google Shape;138;p2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9" name="Google Shape;139;p2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0" name="Google Shape;140;p2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141" name="Shape 141"/>
        <p:cNvGrpSpPr/>
        <p:nvPr/>
      </p:nvGrpSpPr>
      <p:grpSpPr>
        <a:xfrm>
          <a:off x="0" y="0"/>
          <a:ext cx="0" cy="0"/>
          <a:chOff x="0" y="0"/>
          <a:chExt cx="0" cy="0"/>
        </a:xfrm>
      </p:grpSpPr>
      <p:sp>
        <p:nvSpPr>
          <p:cNvPr id="142" name="Google Shape;142;p2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3" name="Google Shape;143;p2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4" name="Google Shape;144;p2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5" name="Google Shape;145;p2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con título" type="objTx">
  <p:cSld name="OBJECT_WITH_CAPTION_TEXT">
    <p:spTree>
      <p:nvGrpSpPr>
        <p:cNvPr id="146" name="Shape 146"/>
        <p:cNvGrpSpPr/>
        <p:nvPr/>
      </p:nvGrpSpPr>
      <p:grpSpPr>
        <a:xfrm>
          <a:off x="0" y="0"/>
          <a:ext cx="0" cy="0"/>
          <a:chOff x="0" y="0"/>
          <a:chExt cx="0" cy="0"/>
        </a:xfrm>
      </p:grpSpPr>
      <p:sp>
        <p:nvSpPr>
          <p:cNvPr id="147" name="Google Shape;147;p27"/>
          <p:cNvSpPr txBox="1"/>
          <p:nvPr>
            <p:ph type="title"/>
          </p:nvPr>
        </p:nvSpPr>
        <p:spPr>
          <a:xfrm>
            <a:off x="629841" y="342900"/>
            <a:ext cx="29493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8" name="Google Shape;148;p27"/>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49" name="Google Shape;149;p27"/>
          <p:cNvSpPr txBox="1"/>
          <p:nvPr>
            <p:ph idx="2" type="body"/>
          </p:nvPr>
        </p:nvSpPr>
        <p:spPr>
          <a:xfrm>
            <a:off x="629841" y="1543050"/>
            <a:ext cx="29493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50" name="Google Shape;150;p2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1" name="Google Shape;151;p2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2" name="Google Shape;152;p2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n con título" type="picTx">
  <p:cSld name="PICTURE_WITH_CAPTION_TEXT">
    <p:spTree>
      <p:nvGrpSpPr>
        <p:cNvPr id="153" name="Shape 153"/>
        <p:cNvGrpSpPr/>
        <p:nvPr/>
      </p:nvGrpSpPr>
      <p:grpSpPr>
        <a:xfrm>
          <a:off x="0" y="0"/>
          <a:ext cx="0" cy="0"/>
          <a:chOff x="0" y="0"/>
          <a:chExt cx="0" cy="0"/>
        </a:xfrm>
      </p:grpSpPr>
      <p:sp>
        <p:nvSpPr>
          <p:cNvPr id="154" name="Google Shape;154;p28"/>
          <p:cNvSpPr txBox="1"/>
          <p:nvPr>
            <p:ph type="title"/>
          </p:nvPr>
        </p:nvSpPr>
        <p:spPr>
          <a:xfrm>
            <a:off x="629841" y="342900"/>
            <a:ext cx="29493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5" name="Google Shape;155;p28"/>
          <p:cNvSpPr/>
          <p:nvPr>
            <p:ph idx="2" type="pic"/>
          </p:nvPr>
        </p:nvSpPr>
        <p:spPr>
          <a:xfrm>
            <a:off x="3887391" y="740569"/>
            <a:ext cx="4629300" cy="3655200"/>
          </a:xfrm>
          <a:prstGeom prst="rect">
            <a:avLst/>
          </a:prstGeom>
          <a:noFill/>
          <a:ln>
            <a:noFill/>
          </a:ln>
        </p:spPr>
      </p:sp>
      <p:sp>
        <p:nvSpPr>
          <p:cNvPr id="156" name="Google Shape;156;p28"/>
          <p:cNvSpPr txBox="1"/>
          <p:nvPr>
            <p:ph idx="1" type="body"/>
          </p:nvPr>
        </p:nvSpPr>
        <p:spPr>
          <a:xfrm>
            <a:off x="629841" y="1543050"/>
            <a:ext cx="29493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57" name="Google Shape;157;p2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8" name="Google Shape;158;p2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9" name="Google Shape;159;p2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texto vertical" type="vertTx">
  <p:cSld name="VERTICAL_TEXT">
    <p:spTree>
      <p:nvGrpSpPr>
        <p:cNvPr id="160" name="Shape 160"/>
        <p:cNvGrpSpPr/>
        <p:nvPr/>
      </p:nvGrpSpPr>
      <p:grpSpPr>
        <a:xfrm>
          <a:off x="0" y="0"/>
          <a:ext cx="0" cy="0"/>
          <a:chOff x="0" y="0"/>
          <a:chExt cx="0" cy="0"/>
        </a:xfrm>
      </p:grpSpPr>
      <p:sp>
        <p:nvSpPr>
          <p:cNvPr id="161" name="Google Shape;161;p2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2" name="Google Shape;162;p29"/>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3" name="Google Shape;163;p2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4" name="Google Shape;164;p2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5" name="Google Shape;165;p2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ertical y texto" type="vertTitleAndTx">
  <p:cSld name="VERTICAL_TITLE_AND_VERTICAL_TEXT">
    <p:spTree>
      <p:nvGrpSpPr>
        <p:cNvPr id="166" name="Shape 166"/>
        <p:cNvGrpSpPr/>
        <p:nvPr/>
      </p:nvGrpSpPr>
      <p:grpSpPr>
        <a:xfrm>
          <a:off x="0" y="0"/>
          <a:ext cx="0" cy="0"/>
          <a:chOff x="0" y="0"/>
          <a:chExt cx="0" cy="0"/>
        </a:xfrm>
      </p:grpSpPr>
      <p:sp>
        <p:nvSpPr>
          <p:cNvPr id="167" name="Google Shape;167;p30"/>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8" name="Google Shape;168;p30"/>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69" name="Google Shape;169;p3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0" name="Google Shape;170;p3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1" name="Google Shape;171;p3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mparación">
  <p:cSld name="1_Comparación">
    <p:spTree>
      <p:nvGrpSpPr>
        <p:cNvPr id="172" name="Shape 172"/>
        <p:cNvGrpSpPr/>
        <p:nvPr/>
      </p:nvGrpSpPr>
      <p:grpSpPr>
        <a:xfrm>
          <a:off x="0" y="0"/>
          <a:ext cx="0" cy="0"/>
          <a:chOff x="0" y="0"/>
          <a:chExt cx="0" cy="0"/>
        </a:xfrm>
      </p:grpSpPr>
      <p:pic>
        <p:nvPicPr>
          <p:cNvPr id="173" name="Google Shape;173;p31"/>
          <p:cNvPicPr preferRelativeResize="0"/>
          <p:nvPr/>
        </p:nvPicPr>
        <p:blipFill rotWithShape="1">
          <a:blip r:embed="rId2">
            <a:alphaModFix/>
          </a:blip>
          <a:srcRect b="0" l="0" r="0" t="0"/>
          <a:stretch/>
        </p:blipFill>
        <p:spPr>
          <a:xfrm>
            <a:off x="0" y="0"/>
            <a:ext cx="9144000" cy="51435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enerated (g39a7cb7eca0_9_0)">
  <p:cSld name="Generated (g39a7cb7eca0_9_0)">
    <p:spTree>
      <p:nvGrpSpPr>
        <p:cNvPr id="174" name="Shape 17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3.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slideLayout" Target="../slideLayouts/slideLayout28.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5" Type="http://schemas.openxmlformats.org/officeDocument/2006/relationships/slideLayout" Target="../slideLayouts/slideLayout30.xml"/><Relationship Id="rId14" Type="http://schemas.openxmlformats.org/officeDocument/2006/relationships/slideLayout" Target="../slideLayouts/slideLayout29.xml"/><Relationship Id="rId16" Type="http://schemas.openxmlformats.org/officeDocument/2006/relationships/theme" Target="../theme/theme1.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7" name="Google Shape;7;p1"/>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0" name="Shape 90"/>
        <p:cNvGrpSpPr/>
        <p:nvPr/>
      </p:nvGrpSpPr>
      <p:grpSpPr>
        <a:xfrm>
          <a:off x="0" y="0"/>
          <a:ext cx="0" cy="0"/>
          <a:chOff x="0" y="0"/>
          <a:chExt cx="0" cy="0"/>
        </a:xfrm>
      </p:grpSpPr>
      <p:sp>
        <p:nvSpPr>
          <p:cNvPr id="91" name="Google Shape;91;p17"/>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2" name="Google Shape;92;p17"/>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93" name="Google Shape;93;p1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94" name="Google Shape;94;p1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95" name="Google Shape;95;p1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1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image" Target="../media/image38.png"/><Relationship Id="rId6"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32.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17.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1.pn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ww.artesaniasdecolombia.com.co/document/documentos/Version_final_copia.pdf" TargetMode="External"/><Relationship Id="rId4" Type="http://schemas.openxmlformats.org/officeDocument/2006/relationships/hyperlink" Target="https://www.artesaniasdecolombia.com.co/document/documentos/Version_final_copia.pdf" TargetMode="External"/><Relationship Id="rId5" Type="http://schemas.openxmlformats.org/officeDocument/2006/relationships/hyperlink" Target="https://www.dane.gov.co/files/operaciones/CSECC/bol-CSECC-2024pr.pdf" TargetMode="External"/><Relationship Id="rId6" Type="http://schemas.openxmlformats.org/officeDocument/2006/relationships/hyperlink" Target="https://www.dane.gov.co/files/operaciones/CSECC/bol-CSECC-2024pr.pdf"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3"/>
          <p:cNvSpPr txBox="1"/>
          <p:nvPr/>
        </p:nvSpPr>
        <p:spPr>
          <a:xfrm>
            <a:off x="1505859" y="982842"/>
            <a:ext cx="6132300" cy="1116000"/>
          </a:xfrm>
          <a:prstGeom prst="rect">
            <a:avLst/>
          </a:prstGeom>
          <a:noFill/>
          <a:ln>
            <a:noFill/>
          </a:ln>
        </p:spPr>
        <p:txBody>
          <a:bodyPr anchorCtr="0" anchor="t" bIns="34275" lIns="68575" spcFirstLastPara="1" rIns="68575" wrap="square" tIns="34275">
            <a:spAutoFit/>
          </a:bodyPr>
          <a:lstStyle/>
          <a:p>
            <a:pPr indent="0" lvl="0" marL="0" marR="0" rtl="0" algn="ctr">
              <a:lnSpc>
                <a:spcPct val="100000"/>
              </a:lnSpc>
              <a:spcBef>
                <a:spcPts val="0"/>
              </a:spcBef>
              <a:spcAft>
                <a:spcPts val="0"/>
              </a:spcAft>
              <a:buClr>
                <a:srgbClr val="000000"/>
              </a:buClr>
              <a:buSzPts val="3400"/>
              <a:buFont typeface="Arial"/>
              <a:buNone/>
            </a:pPr>
            <a:r>
              <a:rPr b="1" i="0" lang="es-419" sz="3400" u="none" cap="none" strike="noStrike">
                <a:solidFill>
                  <a:srgbClr val="3F3F3F"/>
                </a:solidFill>
                <a:latin typeface="Work Sans"/>
                <a:ea typeface="Work Sans"/>
                <a:cs typeface="Work Sans"/>
                <a:sym typeface="Work Sans"/>
              </a:rPr>
              <a:t>SERVICIO NACIONAL DE APRENDIZAJE</a:t>
            </a:r>
            <a:endParaRPr b="0" i="0" sz="900" u="none" cap="none" strike="noStrike">
              <a:solidFill>
                <a:srgbClr val="000000"/>
              </a:solidFill>
              <a:latin typeface="Arial"/>
              <a:ea typeface="Arial"/>
              <a:cs typeface="Arial"/>
              <a:sym typeface="Arial"/>
            </a:endParaRPr>
          </a:p>
        </p:txBody>
      </p:sp>
      <p:sp>
        <p:nvSpPr>
          <p:cNvPr id="181" name="Google Shape;181;p33"/>
          <p:cNvSpPr/>
          <p:nvPr/>
        </p:nvSpPr>
        <p:spPr>
          <a:xfrm>
            <a:off x="468749" y="2450152"/>
            <a:ext cx="8206500" cy="1592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3200"/>
              <a:buFont typeface="Arial"/>
              <a:buNone/>
            </a:pPr>
            <a:r>
              <a:rPr b="1" i="0" lang="es-419" sz="3200" u="none" cap="none" strike="noStrike">
                <a:solidFill>
                  <a:srgbClr val="3F3F3F"/>
                </a:solidFill>
                <a:latin typeface="Work Sans"/>
                <a:ea typeface="Work Sans"/>
                <a:cs typeface="Work Sans"/>
                <a:sym typeface="Work Sans"/>
              </a:rPr>
              <a:t>PROYECTO DE SOFTWARE ADSO</a:t>
            </a:r>
            <a:endParaRPr b="1" i="0" sz="3200" u="none" cap="none" strike="noStrike">
              <a:solidFill>
                <a:srgbClr val="3F3F3F"/>
              </a:solidFill>
              <a:latin typeface="Work Sans"/>
              <a:ea typeface="Work Sans"/>
              <a:cs typeface="Work Sans"/>
              <a:sym typeface="Work Sans"/>
            </a:endParaRPr>
          </a:p>
          <a:p>
            <a:pPr indent="0" lvl="0" marL="0" marR="0" rtl="0" algn="ctr">
              <a:lnSpc>
                <a:spcPct val="100000"/>
              </a:lnSpc>
              <a:spcBef>
                <a:spcPts val="0"/>
              </a:spcBef>
              <a:spcAft>
                <a:spcPts val="0"/>
              </a:spcAft>
              <a:buClr>
                <a:srgbClr val="000000"/>
              </a:buClr>
              <a:buSzPts val="3200"/>
              <a:buFont typeface="Arial"/>
              <a:buNone/>
            </a:pPr>
            <a:r>
              <a:rPr b="1" i="0" lang="es-419" sz="3200" u="none" cap="none" strike="noStrike">
                <a:solidFill>
                  <a:srgbClr val="3F3F3F"/>
                </a:solidFill>
                <a:latin typeface="Work Sans"/>
                <a:ea typeface="Work Sans"/>
                <a:cs typeface="Work Sans"/>
                <a:sym typeface="Work Sans"/>
              </a:rPr>
              <a:t>CSET</a:t>
            </a:r>
            <a:endParaRPr b="0" i="0" sz="10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1" i="0" lang="es-419" sz="3200" u="none" cap="none" strike="noStrike">
                <a:solidFill>
                  <a:srgbClr val="3F3F3F"/>
                </a:solidFill>
                <a:latin typeface="Work Sans"/>
                <a:ea typeface="Work Sans"/>
                <a:cs typeface="Work Sans"/>
                <a:sym typeface="Work Sans"/>
              </a:rPr>
              <a:t>Ficha 2993128</a:t>
            </a:r>
            <a:endParaRPr b="0" i="0" sz="10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6" name="Shape 186"/>
        <p:cNvGrpSpPr/>
        <p:nvPr/>
      </p:nvGrpSpPr>
      <p:grpSpPr>
        <a:xfrm>
          <a:off x="0" y="0"/>
          <a:ext cx="0" cy="0"/>
          <a:chOff x="0" y="0"/>
          <a:chExt cx="0" cy="0"/>
        </a:xfrm>
      </p:grpSpPr>
      <p:sp>
        <p:nvSpPr>
          <p:cNvPr id="187" name="Google Shape;187;p34"/>
          <p:cNvSpPr txBox="1"/>
          <p:nvPr/>
        </p:nvSpPr>
        <p:spPr>
          <a:xfrm>
            <a:off x="381000" y="190500"/>
            <a:ext cx="7620000" cy="492600"/>
          </a:xfrm>
          <a:prstGeom prst="rect">
            <a:avLst/>
          </a:prstGeom>
          <a:solidFill>
            <a:srgbClr val="000000">
              <a:alpha val="0"/>
            </a:srgbClr>
          </a:solid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3200"/>
              <a:buFont typeface="Arial"/>
              <a:buNone/>
            </a:pPr>
            <a:r>
              <a:rPr b="1" i="0" lang="es-419" sz="3200" u="none" cap="none" strike="noStrike">
                <a:solidFill>
                  <a:srgbClr val="FFFFFF"/>
                </a:solidFill>
                <a:latin typeface="Work Sans"/>
                <a:ea typeface="Work Sans"/>
                <a:cs typeface="Work Sans"/>
                <a:sym typeface="Work Sans"/>
              </a:rPr>
              <a:t>Analistas</a:t>
            </a:r>
            <a:endParaRPr b="1" i="0" sz="3200" u="none" cap="none" strike="noStrike">
              <a:solidFill>
                <a:srgbClr val="FFFFFF"/>
              </a:solidFill>
              <a:latin typeface="Work Sans"/>
              <a:ea typeface="Work Sans"/>
              <a:cs typeface="Work Sans"/>
              <a:sym typeface="Work Sans"/>
            </a:endParaRPr>
          </a:p>
        </p:txBody>
      </p:sp>
      <p:sp>
        <p:nvSpPr>
          <p:cNvPr id="188" name="Google Shape;188;p34"/>
          <p:cNvSpPr/>
          <p:nvPr/>
        </p:nvSpPr>
        <p:spPr>
          <a:xfrm>
            <a:off x="0" y="809625"/>
            <a:ext cx="9144000" cy="76200"/>
          </a:xfrm>
          <a:prstGeom prst="rect">
            <a:avLst/>
          </a:prstGeom>
          <a:solidFill>
            <a:srgbClr val="39A9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34"/>
          <p:cNvSpPr txBox="1"/>
          <p:nvPr/>
        </p:nvSpPr>
        <p:spPr>
          <a:xfrm>
            <a:off x="4000500" y="1143000"/>
            <a:ext cx="4762500" cy="492600"/>
          </a:xfrm>
          <a:prstGeom prst="rect">
            <a:avLst/>
          </a:prstGeom>
          <a:solidFill>
            <a:srgbClr val="000000">
              <a:alpha val="0"/>
            </a:srgbClr>
          </a:solidFill>
          <a:ln>
            <a:noFill/>
          </a:ln>
        </p:spPr>
        <p:txBody>
          <a:bodyPr anchorCtr="0" anchor="b" bIns="0" lIns="0" spcFirstLastPara="1" rIns="0" wrap="square" tIns="0">
            <a:spAutoFit/>
          </a:bodyPr>
          <a:lstStyle/>
          <a:p>
            <a:pPr indent="0" lvl="0" marL="0" marR="0" rtl="0" algn="l">
              <a:lnSpc>
                <a:spcPct val="100000"/>
              </a:lnSpc>
              <a:spcBef>
                <a:spcPts val="0"/>
              </a:spcBef>
              <a:spcAft>
                <a:spcPts val="0"/>
              </a:spcAft>
              <a:buClr>
                <a:srgbClr val="000000"/>
              </a:buClr>
              <a:buSzPts val="3200"/>
              <a:buFont typeface="Arial"/>
              <a:buNone/>
            </a:pPr>
            <a:r>
              <a:rPr b="0" i="0" lang="es-419" sz="3200" u="none" cap="none" strike="noStrike">
                <a:solidFill>
                  <a:srgbClr val="39A900"/>
                </a:solidFill>
                <a:latin typeface="Work Sans ExtraBold"/>
                <a:ea typeface="Work Sans ExtraBold"/>
                <a:cs typeface="Work Sans ExtraBold"/>
                <a:sym typeface="Work Sans ExtraBold"/>
              </a:rPr>
              <a:t>Gerson Levi Aza Ortiz</a:t>
            </a:r>
            <a:endParaRPr b="0" i="0" sz="3200" u="none" cap="none" strike="noStrike">
              <a:solidFill>
                <a:srgbClr val="39A900"/>
              </a:solidFill>
              <a:latin typeface="Work Sans ExtraBold"/>
              <a:ea typeface="Work Sans ExtraBold"/>
              <a:cs typeface="Work Sans ExtraBold"/>
              <a:sym typeface="Work Sans ExtraBold"/>
            </a:endParaRPr>
          </a:p>
        </p:txBody>
      </p:sp>
      <p:grpSp>
        <p:nvGrpSpPr>
          <p:cNvPr id="190" name="Google Shape;190;p34"/>
          <p:cNvGrpSpPr/>
          <p:nvPr/>
        </p:nvGrpSpPr>
        <p:grpSpPr>
          <a:xfrm>
            <a:off x="4000500" y="1666875"/>
            <a:ext cx="2095500" cy="304800"/>
            <a:chOff x="4102325" y="1761063"/>
            <a:chExt cx="2095500" cy="304800"/>
          </a:xfrm>
        </p:grpSpPr>
        <p:sp>
          <p:nvSpPr>
            <p:cNvPr id="191" name="Google Shape;191;p34"/>
            <p:cNvSpPr/>
            <p:nvPr/>
          </p:nvSpPr>
          <p:spPr>
            <a:xfrm>
              <a:off x="4102325" y="1761063"/>
              <a:ext cx="2095500" cy="304800"/>
            </a:xfrm>
            <a:prstGeom prst="roundRect">
              <a:avLst>
                <a:gd fmla="val 50000" name="adj"/>
              </a:avLst>
            </a:prstGeom>
            <a:solidFill>
              <a:srgbClr val="F0FDF4"/>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34"/>
            <p:cNvSpPr txBox="1"/>
            <p:nvPr/>
          </p:nvSpPr>
          <p:spPr>
            <a:xfrm>
              <a:off x="4102325" y="1761063"/>
              <a:ext cx="2095500" cy="3048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s-419" sz="1100" u="none" cap="none" strike="noStrike">
                  <a:solidFill>
                    <a:srgbClr val="166534"/>
                  </a:solidFill>
                  <a:latin typeface="Work Sans SemiBold"/>
                  <a:ea typeface="Work Sans SemiBold"/>
                  <a:cs typeface="Work Sans SemiBold"/>
                  <a:sym typeface="Work Sans SemiBold"/>
                </a:rPr>
                <a:t>TECNÓLOGO ADSO</a:t>
              </a:r>
              <a:endParaRPr b="0" i="0" sz="1100" u="none" cap="none" strike="noStrike">
                <a:solidFill>
                  <a:srgbClr val="166534"/>
                </a:solidFill>
                <a:latin typeface="Work Sans SemiBold"/>
                <a:ea typeface="Work Sans SemiBold"/>
                <a:cs typeface="Work Sans SemiBold"/>
                <a:sym typeface="Work Sans SemiBold"/>
              </a:endParaRPr>
            </a:p>
          </p:txBody>
        </p:sp>
      </p:grpSp>
      <p:sp>
        <p:nvSpPr>
          <p:cNvPr id="193" name="Google Shape;193;p34"/>
          <p:cNvSpPr txBox="1"/>
          <p:nvPr/>
        </p:nvSpPr>
        <p:spPr>
          <a:xfrm>
            <a:off x="4000500" y="2286000"/>
            <a:ext cx="4762500" cy="2055000"/>
          </a:xfrm>
          <a:prstGeom prst="rect">
            <a:avLst/>
          </a:prstGeom>
          <a:solidFill>
            <a:srgbClr val="000000">
              <a:alpha val="0"/>
            </a:srgbClr>
          </a:solid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s-419" sz="1400" u="none" cap="none" strike="noStrike">
                <a:solidFill>
                  <a:srgbClr val="000000"/>
                </a:solidFill>
                <a:latin typeface="Arial"/>
                <a:ea typeface="Arial"/>
                <a:cs typeface="Arial"/>
                <a:sym typeface="Arial"/>
              </a:rPr>
              <a:t>Perfil Profesional</a:t>
            </a:r>
            <a:endParaRPr b="1" i="0" sz="1400" u="none" cap="none" strike="noStrike">
              <a:solidFill>
                <a:srgbClr val="000000"/>
              </a:solidFill>
              <a:latin typeface="Arial"/>
              <a:ea typeface="Arial"/>
              <a:cs typeface="Arial"/>
              <a:sym typeface="Arial"/>
            </a:endParaRPr>
          </a:p>
          <a:p>
            <a:pPr indent="0" lvl="0" marL="0" marR="0" rtl="0" algn="l">
              <a:lnSpc>
                <a:spcPct val="100000"/>
              </a:lnSpc>
              <a:spcBef>
                <a:spcPts val="900"/>
              </a:spcBef>
              <a:spcAft>
                <a:spcPts val="0"/>
              </a:spcAft>
              <a:buClr>
                <a:srgbClr val="000000"/>
              </a:buClr>
              <a:buSzPts val="1400"/>
              <a:buFont typeface="Arial"/>
              <a:buNone/>
            </a:pPr>
            <a:r>
              <a:rPr b="0" i="0" lang="es-419" sz="1400" u="none" cap="none" strike="noStrike">
                <a:solidFill>
                  <a:srgbClr val="000000"/>
                </a:solidFill>
                <a:latin typeface="Arial"/>
                <a:ea typeface="Arial"/>
                <a:cs typeface="Arial"/>
                <a:sym typeface="Arial"/>
              </a:rPr>
              <a:t>El tecnólogo ADSO se desempeña desarrollando soluciones en el que prestara servicios personales como analista, diseñador y programador de software independiente o en proyectos específicos de acuerdo con la necesidad del servicio, adquiriendo la capacidad de autoaprendizaje y la actualización de las nuevas tendencias del desarrollo de software en el mercado, al tiempo que mejora la dinámica y economía del país.</a:t>
            </a:r>
            <a:endParaRPr b="0" i="0" sz="1400" u="none" cap="none" strike="noStrike">
              <a:solidFill>
                <a:srgbClr val="000000"/>
              </a:solidFill>
              <a:latin typeface="Arial"/>
              <a:ea typeface="Arial"/>
              <a:cs typeface="Arial"/>
              <a:sym typeface="Arial"/>
            </a:endParaRPr>
          </a:p>
        </p:txBody>
      </p:sp>
      <p:pic>
        <p:nvPicPr>
          <p:cNvPr id="194" name="Google Shape;194;p34" title="WhatsApp Image 2025-12-07 at 9.38.16 PM.jpeg"/>
          <p:cNvPicPr preferRelativeResize="0"/>
          <p:nvPr/>
        </p:nvPicPr>
        <p:blipFill rotWithShape="1">
          <a:blip r:embed="rId4">
            <a:alphaModFix/>
          </a:blip>
          <a:srcRect b="0" l="0" r="0" t="0"/>
          <a:stretch/>
        </p:blipFill>
        <p:spPr>
          <a:xfrm>
            <a:off x="1113700" y="2006988"/>
            <a:ext cx="1911900" cy="1952700"/>
          </a:xfrm>
          <a:prstGeom prst="ellipse">
            <a:avLst/>
          </a:prstGeom>
          <a:solidFill>
            <a:srgbClr val="000000">
              <a:alpha val="0"/>
            </a:srgbClr>
          </a:solidFill>
          <a:ln cap="flat" cmpd="sng" w="19050">
            <a:solidFill>
              <a:srgbClr val="39A900"/>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99" name="Shape 199"/>
        <p:cNvGrpSpPr/>
        <p:nvPr/>
      </p:nvGrpSpPr>
      <p:grpSpPr>
        <a:xfrm>
          <a:off x="0" y="0"/>
          <a:ext cx="0" cy="0"/>
          <a:chOff x="0" y="0"/>
          <a:chExt cx="0" cy="0"/>
        </a:xfrm>
      </p:grpSpPr>
      <p:pic>
        <p:nvPicPr>
          <p:cNvPr id="200" name="Google Shape;200;p35"/>
          <p:cNvPicPr preferRelativeResize="0"/>
          <p:nvPr/>
        </p:nvPicPr>
        <p:blipFill rotWithShape="1">
          <a:blip r:embed="rId4">
            <a:alphaModFix/>
          </a:blip>
          <a:srcRect b="0" l="0" r="0" t="0"/>
          <a:stretch/>
        </p:blipFill>
        <p:spPr>
          <a:xfrm>
            <a:off x="5081075" y="1182650"/>
            <a:ext cx="3829200" cy="3829200"/>
          </a:xfrm>
          <a:prstGeom prst="rect">
            <a:avLst/>
          </a:prstGeom>
          <a:noFill/>
          <a:ln>
            <a:noFill/>
          </a:ln>
        </p:spPr>
      </p:pic>
      <p:sp>
        <p:nvSpPr>
          <p:cNvPr id="201" name="Google Shape;201;p35"/>
          <p:cNvSpPr txBox="1"/>
          <p:nvPr/>
        </p:nvSpPr>
        <p:spPr>
          <a:xfrm>
            <a:off x="381000" y="190500"/>
            <a:ext cx="7620000" cy="492600"/>
          </a:xfrm>
          <a:prstGeom prst="rect">
            <a:avLst/>
          </a:prstGeom>
          <a:solidFill>
            <a:srgbClr val="000000">
              <a:alpha val="0"/>
            </a:srgbClr>
          </a:solid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3200"/>
              <a:buFont typeface="Arial"/>
              <a:buNone/>
            </a:pPr>
            <a:r>
              <a:rPr b="1" i="0" lang="es-419" sz="3200" u="none" cap="none" strike="noStrike">
                <a:solidFill>
                  <a:srgbClr val="FFFFFF"/>
                </a:solidFill>
                <a:latin typeface="Work Sans"/>
                <a:ea typeface="Work Sans"/>
                <a:cs typeface="Work Sans"/>
                <a:sym typeface="Work Sans"/>
              </a:rPr>
              <a:t>Título del Proyecto</a:t>
            </a:r>
            <a:endParaRPr b="1" i="0" sz="3200" u="none" cap="none" strike="noStrike">
              <a:solidFill>
                <a:srgbClr val="FFFFFF"/>
              </a:solidFill>
              <a:latin typeface="Work Sans"/>
              <a:ea typeface="Work Sans"/>
              <a:cs typeface="Work Sans"/>
              <a:sym typeface="Work Sans"/>
            </a:endParaRPr>
          </a:p>
        </p:txBody>
      </p:sp>
      <p:sp>
        <p:nvSpPr>
          <p:cNvPr id="202" name="Google Shape;202;p35"/>
          <p:cNvSpPr/>
          <p:nvPr/>
        </p:nvSpPr>
        <p:spPr>
          <a:xfrm>
            <a:off x="381000" y="1561400"/>
            <a:ext cx="4381500" cy="2885400"/>
          </a:xfrm>
          <a:prstGeom prst="roundRect">
            <a:avLst>
              <a:gd fmla="val 5882" name="adj"/>
            </a:avLst>
          </a:prstGeom>
          <a:solidFill>
            <a:srgbClr val="F8F9F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5"/>
          <p:cNvSpPr/>
          <p:nvPr/>
        </p:nvSpPr>
        <p:spPr>
          <a:xfrm>
            <a:off x="381000" y="1477925"/>
            <a:ext cx="4381500" cy="76200"/>
          </a:xfrm>
          <a:prstGeom prst="roundRect">
            <a:avLst>
              <a:gd fmla="val 50000" name="adj"/>
            </a:avLst>
          </a:prstGeom>
          <a:solidFill>
            <a:srgbClr val="39A9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4" name="Google Shape;204;p35"/>
          <p:cNvPicPr preferRelativeResize="0"/>
          <p:nvPr/>
        </p:nvPicPr>
        <p:blipFill rotWithShape="1">
          <a:blip r:embed="rId5">
            <a:alphaModFix/>
          </a:blip>
          <a:srcRect b="0" l="0" r="0" t="0"/>
          <a:stretch/>
        </p:blipFill>
        <p:spPr>
          <a:xfrm>
            <a:off x="5666550" y="1747700"/>
            <a:ext cx="2699100" cy="2699100"/>
          </a:xfrm>
          <a:prstGeom prst="rect">
            <a:avLst/>
          </a:prstGeom>
          <a:noFill/>
          <a:ln>
            <a:noFill/>
          </a:ln>
        </p:spPr>
      </p:pic>
      <p:sp>
        <p:nvSpPr>
          <p:cNvPr id="205" name="Google Shape;205;p35"/>
          <p:cNvSpPr txBox="1"/>
          <p:nvPr/>
        </p:nvSpPr>
        <p:spPr>
          <a:xfrm>
            <a:off x="571500" y="1803200"/>
            <a:ext cx="40005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4995"/>
              <a:buFont typeface="Arial"/>
              <a:buNone/>
            </a:pPr>
            <a:r>
              <a:rPr b="0" i="0" lang="es-419" sz="4995" u="none" cap="none" strike="noStrike">
                <a:solidFill>
                  <a:srgbClr val="39A900"/>
                </a:solidFill>
                <a:latin typeface="Work Sans Black"/>
                <a:ea typeface="Work Sans Black"/>
                <a:cs typeface="Work Sans Black"/>
                <a:sym typeface="Work Sans Black"/>
              </a:rPr>
              <a:t>VIVA</a:t>
            </a:r>
            <a:endParaRPr b="0" i="0" sz="4995" u="none" cap="none" strike="noStrike">
              <a:solidFill>
                <a:srgbClr val="39A900"/>
              </a:solidFill>
              <a:latin typeface="Work Sans Black"/>
              <a:ea typeface="Work Sans Black"/>
              <a:cs typeface="Work Sans Black"/>
              <a:sym typeface="Work Sans Black"/>
            </a:endParaRPr>
          </a:p>
        </p:txBody>
      </p:sp>
      <p:sp>
        <p:nvSpPr>
          <p:cNvPr id="206" name="Google Shape;206;p35"/>
          <p:cNvSpPr txBox="1"/>
          <p:nvPr/>
        </p:nvSpPr>
        <p:spPr>
          <a:xfrm>
            <a:off x="571500" y="2885925"/>
            <a:ext cx="4000500" cy="985200"/>
          </a:xfrm>
          <a:prstGeom prst="rect">
            <a:avLst/>
          </a:prstGeom>
          <a:solidFill>
            <a:srgbClr val="000000">
              <a:alpha val="0"/>
            </a:srgbClr>
          </a:solidFill>
          <a:ln>
            <a:noFill/>
          </a:ln>
        </p:spPr>
        <p:txBody>
          <a:bodyPr anchorCtr="0" anchor="t" bIns="0" lIns="0" spcFirstLastPara="1" rIns="0" wrap="square" tIns="0">
            <a:spAutoFit/>
          </a:bodyPr>
          <a:lstStyle/>
          <a:p>
            <a:pPr indent="0" lvl="0" marL="0" marR="0" rtl="0" algn="l">
              <a:lnSpc>
                <a:spcPct val="100000"/>
              </a:lnSpc>
              <a:spcBef>
                <a:spcPts val="0"/>
              </a:spcBef>
              <a:spcAft>
                <a:spcPts val="1125"/>
              </a:spcAft>
              <a:buClr>
                <a:srgbClr val="000000"/>
              </a:buClr>
              <a:buSzPts val="1600"/>
              <a:buFont typeface="Arial"/>
              <a:buNone/>
            </a:pPr>
            <a:r>
              <a:rPr b="0" i="0" lang="es-419" sz="1600" u="none" cap="none" strike="noStrike">
                <a:solidFill>
                  <a:srgbClr val="3F3F3F"/>
                </a:solidFill>
                <a:latin typeface="Arial"/>
                <a:ea typeface="Arial"/>
                <a:cs typeface="Arial"/>
                <a:sym typeface="Arial"/>
              </a:rPr>
              <a:t>Implementación de solución TIC de tipo software para la gestión comercial de mercadillos, artesanías y productos de naturaleza autóctona.</a:t>
            </a:r>
            <a:endParaRPr b="0" i="0" sz="1600" u="none" cap="none" strike="noStrike">
              <a:solidFill>
                <a:srgbClr val="3F3F3F"/>
              </a:solidFill>
              <a:latin typeface="Arial"/>
              <a:ea typeface="Arial"/>
              <a:cs typeface="Arial"/>
              <a:sym typeface="Arial"/>
            </a:endParaRPr>
          </a:p>
        </p:txBody>
      </p:sp>
      <p:pic>
        <p:nvPicPr>
          <p:cNvPr id="207" name="Google Shape;207;p35"/>
          <p:cNvPicPr preferRelativeResize="0"/>
          <p:nvPr/>
        </p:nvPicPr>
        <p:blipFill rotWithShape="1">
          <a:blip r:embed="rId5">
            <a:alphaModFix/>
          </a:blip>
          <a:srcRect b="0" l="0" r="0" t="0"/>
          <a:stretch/>
        </p:blipFill>
        <p:spPr>
          <a:xfrm>
            <a:off x="5185925" y="1287500"/>
            <a:ext cx="3619500" cy="3619500"/>
          </a:xfrm>
          <a:prstGeom prst="roundRect">
            <a:avLst>
              <a:gd fmla="val 50000" name="adj"/>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grpSp>
        <p:nvGrpSpPr>
          <p:cNvPr id="213" name="Google Shape;213;p36"/>
          <p:cNvGrpSpPr/>
          <p:nvPr/>
        </p:nvGrpSpPr>
        <p:grpSpPr>
          <a:xfrm>
            <a:off x="0" y="238125"/>
            <a:ext cx="9144000" cy="647700"/>
            <a:chOff x="0" y="238125"/>
            <a:chExt cx="9144000" cy="647700"/>
          </a:xfrm>
        </p:grpSpPr>
        <p:sp>
          <p:nvSpPr>
            <p:cNvPr id="214" name="Google Shape;214;p36"/>
            <p:cNvSpPr txBox="1"/>
            <p:nvPr/>
          </p:nvSpPr>
          <p:spPr>
            <a:xfrm>
              <a:off x="381000" y="238125"/>
              <a:ext cx="7620000" cy="571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200"/>
                <a:buFont typeface="Arial"/>
                <a:buNone/>
              </a:pPr>
              <a:r>
                <a:rPr b="1" i="0" lang="es-419" sz="3200" u="none" cap="none" strike="noStrike">
                  <a:solidFill>
                    <a:srgbClr val="FFFFFF"/>
                  </a:solidFill>
                  <a:latin typeface="Work Sans"/>
                  <a:ea typeface="Work Sans"/>
                  <a:cs typeface="Work Sans"/>
                  <a:sym typeface="Work Sans"/>
                </a:rPr>
                <a:t>Introducción</a:t>
              </a:r>
              <a:endParaRPr b="1" i="0" sz="3200" u="none" cap="none" strike="noStrike">
                <a:solidFill>
                  <a:srgbClr val="FFFFFF"/>
                </a:solidFill>
                <a:latin typeface="Work Sans"/>
                <a:ea typeface="Work Sans"/>
                <a:cs typeface="Work Sans"/>
                <a:sym typeface="Work Sans"/>
              </a:endParaRPr>
            </a:p>
          </p:txBody>
        </p:sp>
        <p:sp>
          <p:nvSpPr>
            <p:cNvPr id="215" name="Google Shape;215;p36"/>
            <p:cNvSpPr/>
            <p:nvPr/>
          </p:nvSpPr>
          <p:spPr>
            <a:xfrm>
              <a:off x="0" y="809625"/>
              <a:ext cx="9144000" cy="76200"/>
            </a:xfrm>
            <a:prstGeom prst="rect">
              <a:avLst/>
            </a:prstGeom>
            <a:solidFill>
              <a:srgbClr val="39A9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16" name="Google Shape;216;p36"/>
          <p:cNvGrpSpPr/>
          <p:nvPr/>
        </p:nvGrpSpPr>
        <p:grpSpPr>
          <a:xfrm>
            <a:off x="285450" y="1377450"/>
            <a:ext cx="8382000" cy="3551100"/>
            <a:chOff x="381000" y="1154500"/>
            <a:chExt cx="8382000" cy="3551100"/>
          </a:xfrm>
        </p:grpSpPr>
        <p:pic>
          <p:nvPicPr>
            <p:cNvPr id="217" name="Google Shape;217;p36"/>
            <p:cNvPicPr preferRelativeResize="0"/>
            <p:nvPr/>
          </p:nvPicPr>
          <p:blipFill rotWithShape="1">
            <a:blip r:embed="rId3">
              <a:alphaModFix/>
            </a:blip>
            <a:srcRect b="5247" l="2757" r="39927" t="1547"/>
            <a:stretch/>
          </p:blipFill>
          <p:spPr>
            <a:xfrm>
              <a:off x="381000" y="1154500"/>
              <a:ext cx="3333900" cy="3551100"/>
            </a:xfrm>
            <a:prstGeom prst="roundRect">
              <a:avLst>
                <a:gd fmla="val 5714" name="adj"/>
              </a:avLst>
            </a:prstGeom>
            <a:noFill/>
            <a:ln>
              <a:noFill/>
            </a:ln>
          </p:spPr>
        </p:pic>
        <p:sp>
          <p:nvSpPr>
            <p:cNvPr id="218" name="Google Shape;218;p36"/>
            <p:cNvSpPr/>
            <p:nvPr/>
          </p:nvSpPr>
          <p:spPr>
            <a:xfrm>
              <a:off x="4191000" y="1428750"/>
              <a:ext cx="4572000" cy="2857500"/>
            </a:xfrm>
            <a:prstGeom prst="roundRect">
              <a:avLst>
                <a:gd fmla="val 5000" name="adj"/>
              </a:avLst>
            </a:prstGeom>
            <a:solidFill>
              <a:srgbClr val="F8F9F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36"/>
            <p:cNvSpPr/>
            <p:nvPr/>
          </p:nvSpPr>
          <p:spPr>
            <a:xfrm>
              <a:off x="4191000" y="2000250"/>
              <a:ext cx="47700" cy="1714500"/>
            </a:xfrm>
            <a:prstGeom prst="rect">
              <a:avLst/>
            </a:prstGeom>
            <a:solidFill>
              <a:srgbClr val="39A9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36"/>
            <p:cNvSpPr txBox="1"/>
            <p:nvPr/>
          </p:nvSpPr>
          <p:spPr>
            <a:xfrm>
              <a:off x="4429125" y="1571625"/>
              <a:ext cx="4143300" cy="257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chemeClr val="dk1"/>
                </a:buClr>
                <a:buSzPts val="1100"/>
                <a:buFont typeface="Arial"/>
                <a:buNone/>
              </a:pPr>
              <a:r>
                <a:rPr b="0" i="0" lang="es-419" sz="1480" u="none" cap="none" strike="noStrike">
                  <a:solidFill>
                    <a:srgbClr val="3F3F3F"/>
                  </a:solidFill>
                  <a:latin typeface="Arial"/>
                  <a:ea typeface="Arial"/>
                  <a:cs typeface="Arial"/>
                  <a:sym typeface="Arial"/>
                </a:rPr>
                <a:t>El sector artesanal colombiano, aunque es un pilar de la identidad nacional, enfrenta una </a:t>
              </a:r>
              <a:r>
                <a:rPr b="1" i="0" lang="es-419" sz="1480" u="none" cap="none" strike="noStrike">
                  <a:solidFill>
                    <a:srgbClr val="39A900"/>
                  </a:solidFill>
                  <a:latin typeface="Arial"/>
                  <a:ea typeface="Arial"/>
                  <a:cs typeface="Arial"/>
                  <a:sym typeface="Arial"/>
                </a:rPr>
                <a:t>brecha crítica de comercialización</a:t>
              </a:r>
              <a:r>
                <a:rPr b="0" i="0" lang="es-419" sz="1480" u="none" cap="none" strike="noStrike">
                  <a:solidFill>
                    <a:srgbClr val="3F3F3F"/>
                  </a:solidFill>
                  <a:latin typeface="Arial"/>
                  <a:ea typeface="Arial"/>
                  <a:cs typeface="Arial"/>
                  <a:sym typeface="Arial"/>
                </a:rPr>
                <a:t> limitada a canales físicos y temporales.</a:t>
              </a:r>
              <a:endParaRPr b="0" i="0" sz="1480" u="none" cap="none" strike="noStrike">
                <a:solidFill>
                  <a:srgbClr val="3F3F3F"/>
                </a:solidFill>
                <a:latin typeface="Arial"/>
                <a:ea typeface="Arial"/>
                <a:cs typeface="Arial"/>
                <a:sym typeface="Arial"/>
              </a:endParaRPr>
            </a:p>
            <a:p>
              <a:pPr indent="0" lvl="0" marL="0" marR="0" rtl="0" algn="l">
                <a:lnSpc>
                  <a:spcPct val="100000"/>
                </a:lnSpc>
                <a:spcBef>
                  <a:spcPts val="1500"/>
                </a:spcBef>
                <a:spcAft>
                  <a:spcPts val="0"/>
                </a:spcAft>
                <a:buClr>
                  <a:schemeClr val="dk1"/>
                </a:buClr>
                <a:buSzPts val="1100"/>
                <a:buFont typeface="Arial"/>
                <a:buNone/>
              </a:pPr>
              <a:r>
                <a:rPr b="0" i="0" lang="es-419" sz="1480" u="none" cap="none" strike="noStrike">
                  <a:solidFill>
                    <a:srgbClr val="3F3F3F"/>
                  </a:solidFill>
                  <a:latin typeface="Arial"/>
                  <a:ea typeface="Arial"/>
                  <a:cs typeface="Arial"/>
                  <a:sym typeface="Arial"/>
                </a:rPr>
                <a:t>El Ministerio de Industria y Comercio prioriza la comercialización y reinversión de productos artesanales en mercados locales e internacionales como una problemática urgente.</a:t>
              </a:r>
              <a:endParaRPr b="0" i="0" sz="1480" u="none" cap="none" strike="noStrike">
                <a:solidFill>
                  <a:srgbClr val="3F3F3F"/>
                </a:solidFill>
                <a:latin typeface="Arial"/>
                <a:ea typeface="Arial"/>
                <a:cs typeface="Arial"/>
                <a:sym typeface="Arial"/>
              </a:endParaRPr>
            </a:p>
            <a:p>
              <a:pPr indent="0" lvl="0" marL="0" marR="0" rtl="0" algn="l">
                <a:lnSpc>
                  <a:spcPct val="100000"/>
                </a:lnSpc>
                <a:spcBef>
                  <a:spcPts val="1500"/>
                </a:spcBef>
                <a:spcAft>
                  <a:spcPts val="0"/>
                </a:spcAft>
                <a:buClr>
                  <a:schemeClr val="dk1"/>
                </a:buClr>
                <a:buSzPts val="1100"/>
                <a:buFont typeface="Arial"/>
                <a:buNone/>
              </a:pPr>
              <a:r>
                <a:rPr b="1" i="0" lang="es-419" sz="925" u="none" cap="none" strike="noStrike">
                  <a:solidFill>
                    <a:srgbClr val="64748B"/>
                  </a:solidFill>
                  <a:latin typeface="Arial"/>
                  <a:ea typeface="Arial"/>
                  <a:cs typeface="Arial"/>
                  <a:sym typeface="Arial"/>
                </a:rPr>
                <a:t>Fuente:</a:t>
              </a:r>
              <a:endParaRPr b="1" i="0" sz="925" u="none" cap="none" strike="noStrike">
                <a:solidFill>
                  <a:srgbClr val="64748B"/>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0" i="1" lang="es-419" sz="833" u="none" cap="none" strike="noStrike">
                  <a:solidFill>
                    <a:srgbClr val="94A3B8"/>
                  </a:solidFill>
                  <a:latin typeface="Arial"/>
                  <a:ea typeface="Arial"/>
                  <a:cs typeface="Arial"/>
                  <a:sym typeface="Arial"/>
                </a:rPr>
                <a:t>Artesanías de Colombia &amp; MinCIT (2024). Plan Estratégico e Informe de Problemáticas Priorizadas del Sector Artesanal.</a:t>
              </a:r>
              <a:endParaRPr b="0" i="0" sz="1600" u="none" cap="none" strike="noStrike">
                <a:solidFill>
                  <a:srgbClr val="3F3F3F"/>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25" name="Shape 225"/>
        <p:cNvGrpSpPr/>
        <p:nvPr/>
      </p:nvGrpSpPr>
      <p:grpSpPr>
        <a:xfrm>
          <a:off x="0" y="0"/>
          <a:ext cx="0" cy="0"/>
          <a:chOff x="0" y="0"/>
          <a:chExt cx="0" cy="0"/>
        </a:xfrm>
      </p:grpSpPr>
      <p:sp>
        <p:nvSpPr>
          <p:cNvPr id="226" name="Google Shape;226;p37"/>
          <p:cNvSpPr txBox="1"/>
          <p:nvPr/>
        </p:nvSpPr>
        <p:spPr>
          <a:xfrm>
            <a:off x="366050" y="227925"/>
            <a:ext cx="7620000" cy="492600"/>
          </a:xfrm>
          <a:prstGeom prst="rect">
            <a:avLst/>
          </a:prstGeom>
          <a:solidFill>
            <a:srgbClr val="000000">
              <a:alpha val="0"/>
            </a:srgbClr>
          </a:solid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3200"/>
              <a:buFont typeface="Arial"/>
              <a:buNone/>
            </a:pPr>
            <a:r>
              <a:rPr b="1" i="0" lang="es-419" sz="3200" u="none" cap="none" strike="noStrike">
                <a:solidFill>
                  <a:srgbClr val="FFFFFF"/>
                </a:solidFill>
                <a:latin typeface="Work Sans"/>
                <a:ea typeface="Work Sans"/>
                <a:cs typeface="Work Sans"/>
                <a:sym typeface="Work Sans"/>
              </a:rPr>
              <a:t>Justificación</a:t>
            </a:r>
            <a:endParaRPr b="1" i="0" sz="3200" u="none" cap="none" strike="noStrike">
              <a:solidFill>
                <a:srgbClr val="FFFFFF"/>
              </a:solidFill>
              <a:latin typeface="Work Sans"/>
              <a:ea typeface="Work Sans"/>
              <a:cs typeface="Work Sans"/>
              <a:sym typeface="Work Sans"/>
            </a:endParaRPr>
          </a:p>
        </p:txBody>
      </p:sp>
      <p:sp>
        <p:nvSpPr>
          <p:cNvPr id="227" name="Google Shape;227;p37"/>
          <p:cNvSpPr/>
          <p:nvPr/>
        </p:nvSpPr>
        <p:spPr>
          <a:xfrm>
            <a:off x="0" y="809625"/>
            <a:ext cx="9144000" cy="76200"/>
          </a:xfrm>
          <a:prstGeom prst="rect">
            <a:avLst/>
          </a:prstGeom>
          <a:solidFill>
            <a:srgbClr val="39A9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28" name="Google Shape;228;p37"/>
          <p:cNvGrpSpPr/>
          <p:nvPr/>
        </p:nvGrpSpPr>
        <p:grpSpPr>
          <a:xfrm>
            <a:off x="285750" y="1143000"/>
            <a:ext cx="4191000" cy="2952900"/>
            <a:chOff x="285750" y="1143000"/>
            <a:chExt cx="4191000" cy="2952900"/>
          </a:xfrm>
        </p:grpSpPr>
        <p:sp>
          <p:nvSpPr>
            <p:cNvPr id="229" name="Google Shape;229;p37"/>
            <p:cNvSpPr/>
            <p:nvPr/>
          </p:nvSpPr>
          <p:spPr>
            <a:xfrm>
              <a:off x="285750" y="1143000"/>
              <a:ext cx="4191000" cy="2952900"/>
            </a:xfrm>
            <a:prstGeom prst="roundRect">
              <a:avLst>
                <a:gd fmla="val 516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7"/>
            <p:cNvSpPr txBox="1"/>
            <p:nvPr/>
          </p:nvSpPr>
          <p:spPr>
            <a:xfrm>
              <a:off x="571500" y="1333500"/>
              <a:ext cx="3619500" cy="28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s-419" sz="1400" u="none" cap="none" strike="noStrike">
                  <a:solidFill>
                    <a:srgbClr val="475569"/>
                  </a:solidFill>
                  <a:latin typeface="Urbanist"/>
                  <a:ea typeface="Urbanist"/>
                  <a:cs typeface="Urbanist"/>
                  <a:sym typeface="Urbanist"/>
                </a:rPr>
                <a:t>Poder Económico (VAB %)</a:t>
              </a:r>
              <a:endParaRPr b="1" i="0" sz="1400" u="none" cap="none" strike="noStrike">
                <a:solidFill>
                  <a:srgbClr val="475569"/>
                </a:solidFill>
                <a:latin typeface="Urbanist"/>
                <a:ea typeface="Urbanist"/>
                <a:cs typeface="Urbanist"/>
                <a:sym typeface="Urbanist"/>
              </a:endParaRPr>
            </a:p>
          </p:txBody>
        </p:sp>
        <p:grpSp>
          <p:nvGrpSpPr>
            <p:cNvPr id="231" name="Google Shape;231;p37"/>
            <p:cNvGrpSpPr/>
            <p:nvPr/>
          </p:nvGrpSpPr>
          <p:grpSpPr>
            <a:xfrm>
              <a:off x="571500" y="1714500"/>
              <a:ext cx="3619500" cy="323850"/>
              <a:chOff x="0" y="0"/>
              <a:chExt cx="3619500" cy="323850"/>
            </a:xfrm>
          </p:grpSpPr>
          <p:sp>
            <p:nvSpPr>
              <p:cNvPr id="232" name="Google Shape;232;p37"/>
              <p:cNvSpPr txBox="1"/>
              <p:nvPr/>
            </p:nvSpPr>
            <p:spPr>
              <a:xfrm>
                <a:off x="0" y="0"/>
                <a:ext cx="36195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s-419" sz="1000" u="none" cap="none" strike="noStrike">
                    <a:solidFill>
                      <a:srgbClr val="1E293B"/>
                    </a:solidFill>
                    <a:latin typeface="Lato"/>
                    <a:ea typeface="Lato"/>
                    <a:cs typeface="Lato"/>
                    <a:sym typeface="Lato"/>
                  </a:rPr>
                  <a:t>Software y Medios Digitales (71.4%)</a:t>
                </a:r>
                <a:endParaRPr b="1" i="0" sz="1000" u="none" cap="none" strike="noStrike">
                  <a:solidFill>
                    <a:srgbClr val="1E293B"/>
                  </a:solidFill>
                  <a:latin typeface="Lato"/>
                  <a:ea typeface="Lato"/>
                  <a:cs typeface="Lato"/>
                  <a:sym typeface="Lato"/>
                </a:endParaRPr>
              </a:p>
            </p:txBody>
          </p:sp>
          <p:sp>
            <p:nvSpPr>
              <p:cNvPr id="233" name="Google Shape;233;p37"/>
              <p:cNvSpPr/>
              <p:nvPr/>
            </p:nvSpPr>
            <p:spPr>
              <a:xfrm>
                <a:off x="0" y="209550"/>
                <a:ext cx="3429000" cy="114300"/>
              </a:xfrm>
              <a:prstGeom prst="roundRect">
                <a:avLst>
                  <a:gd fmla="val 50000" name="adj"/>
                </a:avLst>
              </a:prstGeom>
              <a:solidFill>
                <a:srgbClr val="F1F5F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 name="Google Shape;234;p37"/>
              <p:cNvSpPr/>
              <p:nvPr/>
            </p:nvSpPr>
            <p:spPr>
              <a:xfrm>
                <a:off x="0" y="209550"/>
                <a:ext cx="2448000" cy="114300"/>
              </a:xfrm>
              <a:prstGeom prst="roundRect">
                <a:avLst>
                  <a:gd fmla="val 50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5" name="Google Shape;235;p37"/>
            <p:cNvGrpSpPr/>
            <p:nvPr/>
          </p:nvGrpSpPr>
          <p:grpSpPr>
            <a:xfrm>
              <a:off x="571500" y="2190750"/>
              <a:ext cx="3619500" cy="323850"/>
              <a:chOff x="0" y="0"/>
              <a:chExt cx="3619500" cy="323850"/>
            </a:xfrm>
          </p:grpSpPr>
          <p:sp>
            <p:nvSpPr>
              <p:cNvPr id="236" name="Google Shape;236;p37"/>
              <p:cNvSpPr txBox="1"/>
              <p:nvPr/>
            </p:nvSpPr>
            <p:spPr>
              <a:xfrm>
                <a:off x="0" y="0"/>
                <a:ext cx="36195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s-419" sz="1000" u="none" cap="none" strike="noStrike">
                    <a:solidFill>
                      <a:srgbClr val="1E293B"/>
                    </a:solidFill>
                    <a:latin typeface="Lato"/>
                    <a:ea typeface="Lato"/>
                    <a:cs typeface="Lato"/>
                    <a:sym typeface="Lato"/>
                  </a:rPr>
                  <a:t>Artes y Patrimonio (11.4%)</a:t>
                </a:r>
                <a:endParaRPr b="1" i="0" sz="1000" u="none" cap="none" strike="noStrike">
                  <a:solidFill>
                    <a:srgbClr val="1E293B"/>
                  </a:solidFill>
                  <a:latin typeface="Lato"/>
                  <a:ea typeface="Lato"/>
                  <a:cs typeface="Lato"/>
                  <a:sym typeface="Lato"/>
                </a:endParaRPr>
              </a:p>
            </p:txBody>
          </p:sp>
          <p:sp>
            <p:nvSpPr>
              <p:cNvPr id="237" name="Google Shape;237;p37"/>
              <p:cNvSpPr/>
              <p:nvPr/>
            </p:nvSpPr>
            <p:spPr>
              <a:xfrm>
                <a:off x="0" y="209550"/>
                <a:ext cx="3429000" cy="114300"/>
              </a:xfrm>
              <a:prstGeom prst="roundRect">
                <a:avLst>
                  <a:gd fmla="val 50000" name="adj"/>
                </a:avLst>
              </a:prstGeom>
              <a:solidFill>
                <a:srgbClr val="F1F5F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37"/>
              <p:cNvSpPr/>
              <p:nvPr/>
            </p:nvSpPr>
            <p:spPr>
              <a:xfrm>
                <a:off x="0" y="209550"/>
                <a:ext cx="390600" cy="114300"/>
              </a:xfrm>
              <a:prstGeom prst="roundRect">
                <a:avLst>
                  <a:gd fmla="val 50000" name="adj"/>
                </a:avLst>
              </a:prstGeom>
              <a:solidFill>
                <a:srgbClr val="FBBF24"/>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39" name="Google Shape;239;p37"/>
            <p:cNvGrpSpPr/>
            <p:nvPr/>
          </p:nvGrpSpPr>
          <p:grpSpPr>
            <a:xfrm>
              <a:off x="571500" y="2667000"/>
              <a:ext cx="3619500" cy="323850"/>
              <a:chOff x="0" y="0"/>
              <a:chExt cx="3619500" cy="323850"/>
            </a:xfrm>
          </p:grpSpPr>
          <p:sp>
            <p:nvSpPr>
              <p:cNvPr id="240" name="Google Shape;240;p37"/>
              <p:cNvSpPr txBox="1"/>
              <p:nvPr/>
            </p:nvSpPr>
            <p:spPr>
              <a:xfrm>
                <a:off x="0" y="0"/>
                <a:ext cx="36195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s-419" sz="1000" u="none" cap="none" strike="noStrike">
                    <a:solidFill>
                      <a:srgbClr val="1E293B"/>
                    </a:solidFill>
                    <a:latin typeface="Lato"/>
                    <a:ea typeface="Lato"/>
                    <a:cs typeface="Lato"/>
                    <a:sym typeface="Lato"/>
                  </a:rPr>
                  <a:t>Diseño y Publicidad (17.2%)</a:t>
                </a:r>
                <a:endParaRPr b="1" i="0" sz="1000" u="none" cap="none" strike="noStrike">
                  <a:solidFill>
                    <a:srgbClr val="1E293B"/>
                  </a:solidFill>
                  <a:latin typeface="Lato"/>
                  <a:ea typeface="Lato"/>
                  <a:cs typeface="Lato"/>
                  <a:sym typeface="Lato"/>
                </a:endParaRPr>
              </a:p>
            </p:txBody>
          </p:sp>
          <p:sp>
            <p:nvSpPr>
              <p:cNvPr id="241" name="Google Shape;241;p37"/>
              <p:cNvSpPr/>
              <p:nvPr/>
            </p:nvSpPr>
            <p:spPr>
              <a:xfrm>
                <a:off x="0" y="209550"/>
                <a:ext cx="3429000" cy="114300"/>
              </a:xfrm>
              <a:prstGeom prst="roundRect">
                <a:avLst>
                  <a:gd fmla="val 50000" name="adj"/>
                </a:avLst>
              </a:prstGeom>
              <a:solidFill>
                <a:srgbClr val="F1F5F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7"/>
              <p:cNvSpPr/>
              <p:nvPr/>
            </p:nvSpPr>
            <p:spPr>
              <a:xfrm>
                <a:off x="0" y="209550"/>
                <a:ext cx="590700" cy="114300"/>
              </a:xfrm>
              <a:prstGeom prst="roundRect">
                <a:avLst>
                  <a:gd fmla="val 50000" name="adj"/>
                </a:avLst>
              </a:prstGeom>
              <a:solidFill>
                <a:srgbClr val="47556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3" name="Google Shape;243;p37"/>
            <p:cNvSpPr/>
            <p:nvPr/>
          </p:nvSpPr>
          <p:spPr>
            <a:xfrm>
              <a:off x="571500" y="3286125"/>
              <a:ext cx="3619500" cy="381000"/>
            </a:xfrm>
            <a:prstGeom prst="roundRect">
              <a:avLst>
                <a:gd fmla="val 20000" name="adj"/>
              </a:avLst>
            </a:prstGeom>
            <a:solidFill>
              <a:srgbClr val="F8FAF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37"/>
            <p:cNvSpPr txBox="1"/>
            <p:nvPr/>
          </p:nvSpPr>
          <p:spPr>
            <a:xfrm>
              <a:off x="666750" y="3286125"/>
              <a:ext cx="3429000" cy="381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s-419" sz="1000" u="none" cap="none" strike="noStrike">
                  <a:solidFill>
                    <a:srgbClr val="64748B"/>
                  </a:solidFill>
                  <a:latin typeface="Lato"/>
                  <a:ea typeface="Lato"/>
                  <a:cs typeface="Lato"/>
                  <a:sym typeface="Lato"/>
                </a:rPr>
                <a:t>El Software concentra el capital financiero, pero opera aislado del patrimonio. El reporte anual informa de un promedio de 20 billones anuales.</a:t>
              </a:r>
              <a:endParaRPr b="0" i="0" sz="1000" u="none" cap="none" strike="noStrike">
                <a:solidFill>
                  <a:srgbClr val="64748B"/>
                </a:solidFill>
                <a:latin typeface="Lato"/>
                <a:ea typeface="Lato"/>
                <a:cs typeface="Lato"/>
                <a:sym typeface="Lato"/>
              </a:endParaRPr>
            </a:p>
          </p:txBody>
        </p:sp>
      </p:grpSp>
      <p:grpSp>
        <p:nvGrpSpPr>
          <p:cNvPr id="245" name="Google Shape;245;p37"/>
          <p:cNvGrpSpPr/>
          <p:nvPr/>
        </p:nvGrpSpPr>
        <p:grpSpPr>
          <a:xfrm>
            <a:off x="4667250" y="1143000"/>
            <a:ext cx="4191000" cy="2952900"/>
            <a:chOff x="4667250" y="1143000"/>
            <a:chExt cx="4191000" cy="2952900"/>
          </a:xfrm>
        </p:grpSpPr>
        <p:sp>
          <p:nvSpPr>
            <p:cNvPr id="246" name="Google Shape;246;p37"/>
            <p:cNvSpPr/>
            <p:nvPr/>
          </p:nvSpPr>
          <p:spPr>
            <a:xfrm>
              <a:off x="4667250" y="1143000"/>
              <a:ext cx="4191000" cy="2952900"/>
            </a:xfrm>
            <a:prstGeom prst="roundRect">
              <a:avLst>
                <a:gd fmla="val 5161"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37"/>
            <p:cNvSpPr txBox="1"/>
            <p:nvPr/>
          </p:nvSpPr>
          <p:spPr>
            <a:xfrm>
              <a:off x="4953000" y="1333500"/>
              <a:ext cx="3619500" cy="28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s-419" sz="1400" u="none" cap="none" strike="noStrike">
                  <a:solidFill>
                    <a:srgbClr val="475569"/>
                  </a:solidFill>
                  <a:latin typeface="Urbanist"/>
                  <a:ea typeface="Urbanist"/>
                  <a:cs typeface="Urbanist"/>
                  <a:sym typeface="Urbanist"/>
                </a:rPr>
                <a:t>Impacto Social (Empleo% creaciones funcionales)</a:t>
              </a:r>
              <a:endParaRPr b="1" i="0" sz="1400" u="none" cap="none" strike="noStrike">
                <a:solidFill>
                  <a:srgbClr val="475569"/>
                </a:solidFill>
                <a:latin typeface="Urbanist"/>
                <a:ea typeface="Urbanist"/>
                <a:cs typeface="Urbanist"/>
                <a:sym typeface="Urbanist"/>
              </a:endParaRPr>
            </a:p>
          </p:txBody>
        </p:sp>
        <p:grpSp>
          <p:nvGrpSpPr>
            <p:cNvPr id="248" name="Google Shape;248;p37"/>
            <p:cNvGrpSpPr/>
            <p:nvPr/>
          </p:nvGrpSpPr>
          <p:grpSpPr>
            <a:xfrm>
              <a:off x="4953000" y="1714500"/>
              <a:ext cx="3619500" cy="323850"/>
              <a:chOff x="0" y="0"/>
              <a:chExt cx="3619500" cy="323850"/>
            </a:xfrm>
          </p:grpSpPr>
          <p:sp>
            <p:nvSpPr>
              <p:cNvPr id="249" name="Google Shape;249;p37"/>
              <p:cNvSpPr txBox="1"/>
              <p:nvPr/>
            </p:nvSpPr>
            <p:spPr>
              <a:xfrm>
                <a:off x="0" y="0"/>
                <a:ext cx="36195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s-419" sz="1000" u="none" cap="none" strike="noStrike">
                    <a:solidFill>
                      <a:srgbClr val="1E293B"/>
                    </a:solidFill>
                    <a:latin typeface="Lato"/>
                    <a:ea typeface="Lato"/>
                    <a:cs typeface="Lato"/>
                    <a:sym typeface="Lato"/>
                  </a:rPr>
                  <a:t>Artes y Patrimonio (Artesanos) (45.4%)</a:t>
                </a:r>
                <a:endParaRPr b="1" i="0" sz="1000" u="none" cap="none" strike="noStrike">
                  <a:solidFill>
                    <a:srgbClr val="1E293B"/>
                  </a:solidFill>
                  <a:latin typeface="Lato"/>
                  <a:ea typeface="Lato"/>
                  <a:cs typeface="Lato"/>
                  <a:sym typeface="Lato"/>
                </a:endParaRPr>
              </a:p>
            </p:txBody>
          </p:sp>
          <p:sp>
            <p:nvSpPr>
              <p:cNvPr id="250" name="Google Shape;250;p37"/>
              <p:cNvSpPr/>
              <p:nvPr/>
            </p:nvSpPr>
            <p:spPr>
              <a:xfrm>
                <a:off x="0" y="209550"/>
                <a:ext cx="3429000" cy="114300"/>
              </a:xfrm>
              <a:prstGeom prst="roundRect">
                <a:avLst>
                  <a:gd fmla="val 50000" name="adj"/>
                </a:avLst>
              </a:prstGeom>
              <a:solidFill>
                <a:srgbClr val="F1F5F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7"/>
              <p:cNvSpPr/>
              <p:nvPr/>
            </p:nvSpPr>
            <p:spPr>
              <a:xfrm>
                <a:off x="0" y="209550"/>
                <a:ext cx="1552500" cy="114300"/>
              </a:xfrm>
              <a:prstGeom prst="roundRect">
                <a:avLst>
                  <a:gd fmla="val 50000" name="adj"/>
                </a:avLst>
              </a:prstGeom>
              <a:solidFill>
                <a:srgbClr val="39A9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2" name="Google Shape;252;p37"/>
            <p:cNvGrpSpPr/>
            <p:nvPr/>
          </p:nvGrpSpPr>
          <p:grpSpPr>
            <a:xfrm>
              <a:off x="4953000" y="2190750"/>
              <a:ext cx="3619500" cy="323850"/>
              <a:chOff x="0" y="0"/>
              <a:chExt cx="3619500" cy="323850"/>
            </a:xfrm>
          </p:grpSpPr>
          <p:sp>
            <p:nvSpPr>
              <p:cNvPr id="253" name="Google Shape;253;p37"/>
              <p:cNvSpPr txBox="1"/>
              <p:nvPr/>
            </p:nvSpPr>
            <p:spPr>
              <a:xfrm>
                <a:off x="0" y="0"/>
                <a:ext cx="36195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s-419" sz="1000" u="none" cap="none" strike="noStrike">
                    <a:solidFill>
                      <a:srgbClr val="1E293B"/>
                    </a:solidFill>
                    <a:latin typeface="Lato"/>
                    <a:ea typeface="Lato"/>
                    <a:cs typeface="Lato"/>
                    <a:sym typeface="Lato"/>
                  </a:rPr>
                  <a:t>Creaciones Funcionales (41.5%)</a:t>
                </a:r>
                <a:endParaRPr b="1" i="0" sz="1000" u="none" cap="none" strike="noStrike">
                  <a:solidFill>
                    <a:srgbClr val="1E293B"/>
                  </a:solidFill>
                  <a:latin typeface="Lato"/>
                  <a:ea typeface="Lato"/>
                  <a:cs typeface="Lato"/>
                  <a:sym typeface="Lato"/>
                </a:endParaRPr>
              </a:p>
            </p:txBody>
          </p:sp>
          <p:sp>
            <p:nvSpPr>
              <p:cNvPr id="254" name="Google Shape;254;p37"/>
              <p:cNvSpPr/>
              <p:nvPr/>
            </p:nvSpPr>
            <p:spPr>
              <a:xfrm>
                <a:off x="0" y="209550"/>
                <a:ext cx="3429000" cy="114300"/>
              </a:xfrm>
              <a:prstGeom prst="roundRect">
                <a:avLst>
                  <a:gd fmla="val 50000" name="adj"/>
                </a:avLst>
              </a:prstGeom>
              <a:solidFill>
                <a:srgbClr val="F1F5F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37"/>
              <p:cNvSpPr/>
              <p:nvPr/>
            </p:nvSpPr>
            <p:spPr>
              <a:xfrm>
                <a:off x="0" y="209550"/>
                <a:ext cx="1419300" cy="114300"/>
              </a:xfrm>
              <a:prstGeom prst="roundRect">
                <a:avLst>
                  <a:gd fmla="val 50000" name="adj"/>
                </a:avLst>
              </a:prstGeom>
              <a:solidFill>
                <a:srgbClr val="94A3B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56" name="Google Shape;256;p37"/>
            <p:cNvGrpSpPr/>
            <p:nvPr/>
          </p:nvGrpSpPr>
          <p:grpSpPr>
            <a:xfrm>
              <a:off x="4953000" y="2667000"/>
              <a:ext cx="3619500" cy="323850"/>
              <a:chOff x="0" y="0"/>
              <a:chExt cx="3619500" cy="323850"/>
            </a:xfrm>
          </p:grpSpPr>
          <p:sp>
            <p:nvSpPr>
              <p:cNvPr id="257" name="Google Shape;257;p37"/>
              <p:cNvSpPr txBox="1"/>
              <p:nvPr/>
            </p:nvSpPr>
            <p:spPr>
              <a:xfrm>
                <a:off x="0" y="0"/>
                <a:ext cx="3619500" cy="19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s-419" sz="1000" u="none" cap="none" strike="noStrike">
                    <a:solidFill>
                      <a:srgbClr val="1E293B"/>
                    </a:solidFill>
                    <a:latin typeface="Lato"/>
                    <a:ea typeface="Lato"/>
                    <a:cs typeface="Lato"/>
                    <a:sym typeface="Lato"/>
                  </a:rPr>
                  <a:t>Industrias Culturales (13.1%)</a:t>
                </a:r>
                <a:endParaRPr b="1" i="0" sz="1000" u="none" cap="none" strike="noStrike">
                  <a:solidFill>
                    <a:srgbClr val="1E293B"/>
                  </a:solidFill>
                  <a:latin typeface="Lato"/>
                  <a:ea typeface="Lato"/>
                  <a:cs typeface="Lato"/>
                  <a:sym typeface="Lato"/>
                </a:endParaRPr>
              </a:p>
            </p:txBody>
          </p:sp>
          <p:sp>
            <p:nvSpPr>
              <p:cNvPr id="258" name="Google Shape;258;p37"/>
              <p:cNvSpPr/>
              <p:nvPr/>
            </p:nvSpPr>
            <p:spPr>
              <a:xfrm>
                <a:off x="0" y="209550"/>
                <a:ext cx="3429000" cy="114300"/>
              </a:xfrm>
              <a:prstGeom prst="roundRect">
                <a:avLst>
                  <a:gd fmla="val 50000" name="adj"/>
                </a:avLst>
              </a:prstGeom>
              <a:solidFill>
                <a:srgbClr val="F1F5F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7"/>
              <p:cNvSpPr/>
              <p:nvPr/>
            </p:nvSpPr>
            <p:spPr>
              <a:xfrm>
                <a:off x="0" y="209550"/>
                <a:ext cx="447600" cy="114300"/>
              </a:xfrm>
              <a:prstGeom prst="roundRect">
                <a:avLst>
                  <a:gd fmla="val 50000" name="adj"/>
                </a:avLst>
              </a:prstGeom>
              <a:solidFill>
                <a:srgbClr val="47556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60" name="Google Shape;260;p37"/>
            <p:cNvSpPr/>
            <p:nvPr/>
          </p:nvSpPr>
          <p:spPr>
            <a:xfrm>
              <a:off x="4953000" y="3286125"/>
              <a:ext cx="3619500" cy="381000"/>
            </a:xfrm>
            <a:prstGeom prst="roundRect">
              <a:avLst>
                <a:gd fmla="val 20000" name="adj"/>
              </a:avLst>
            </a:prstGeom>
            <a:solidFill>
              <a:srgbClr val="F8FAFC"/>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p37"/>
            <p:cNvSpPr txBox="1"/>
            <p:nvPr/>
          </p:nvSpPr>
          <p:spPr>
            <a:xfrm>
              <a:off x="5048250" y="3286125"/>
              <a:ext cx="3429000" cy="381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s-419" sz="1000" u="none" cap="none" strike="noStrike">
                  <a:solidFill>
                    <a:srgbClr val="64748B"/>
                  </a:solidFill>
                  <a:latin typeface="Lato"/>
                  <a:ea typeface="Lato"/>
                  <a:cs typeface="Lato"/>
                  <a:sym typeface="Lato"/>
                </a:rPr>
                <a:t>Casi la mitad del empleo depende de las artes, pero con la menor retribución del VAB.</a:t>
              </a:r>
              <a:endParaRPr b="1" i="0" sz="1000" u="none" cap="none" strike="noStrike">
                <a:solidFill>
                  <a:srgbClr val="64748B"/>
                </a:solidFill>
                <a:latin typeface="Lato"/>
                <a:ea typeface="Lato"/>
                <a:cs typeface="Lato"/>
                <a:sym typeface="Lato"/>
              </a:endParaRPr>
            </a:p>
          </p:txBody>
        </p:sp>
      </p:grpSp>
      <p:sp>
        <p:nvSpPr>
          <p:cNvPr id="262" name="Google Shape;262;p37"/>
          <p:cNvSpPr/>
          <p:nvPr/>
        </p:nvSpPr>
        <p:spPr>
          <a:xfrm>
            <a:off x="285750" y="4248825"/>
            <a:ext cx="8572500" cy="571500"/>
          </a:xfrm>
          <a:prstGeom prst="roundRect">
            <a:avLst>
              <a:gd fmla="val 50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p37"/>
          <p:cNvSpPr txBox="1"/>
          <p:nvPr/>
        </p:nvSpPr>
        <p:spPr>
          <a:xfrm>
            <a:off x="476250" y="4214888"/>
            <a:ext cx="8191500" cy="571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0" i="0" lang="es-419" sz="1300" u="none" cap="none" strike="noStrike">
                <a:solidFill>
                  <a:srgbClr val="FFFFFF"/>
                </a:solidFill>
                <a:latin typeface="Urbanist"/>
                <a:ea typeface="Urbanist"/>
                <a:cs typeface="Urbanist"/>
                <a:sym typeface="Urbanist"/>
              </a:rPr>
              <a:t>VIVA es el puente tecnológico que inyecta la rentabilidad del </a:t>
            </a:r>
            <a:r>
              <a:rPr b="1" i="0" lang="es-419" sz="1300" u="none" cap="none" strike="noStrike">
                <a:solidFill>
                  <a:srgbClr val="39A900"/>
                </a:solidFill>
                <a:latin typeface="Urbanist"/>
                <a:ea typeface="Urbanist"/>
                <a:cs typeface="Urbanist"/>
                <a:sym typeface="Urbanist"/>
              </a:rPr>
              <a:t>Software (71.4%)</a:t>
            </a:r>
            <a:r>
              <a:rPr b="0" i="0" lang="es-419" sz="1300" u="none" cap="none" strike="noStrike">
                <a:solidFill>
                  <a:srgbClr val="FFFFFF"/>
                </a:solidFill>
                <a:latin typeface="Urbanist"/>
                <a:ea typeface="Urbanist"/>
                <a:cs typeface="Urbanist"/>
                <a:sym typeface="Urbanist"/>
              </a:rPr>
              <a:t> al corazón social del país: los </a:t>
            </a:r>
            <a:r>
              <a:rPr b="1" i="0" lang="es-419" sz="1300" u="none" cap="none" strike="noStrike">
                <a:solidFill>
                  <a:srgbClr val="39A900"/>
                </a:solidFill>
                <a:latin typeface="Urbanist"/>
                <a:ea typeface="Urbanist"/>
                <a:cs typeface="Urbanist"/>
                <a:sym typeface="Urbanist"/>
              </a:rPr>
              <a:t>Artesanos (45.4%) </a:t>
            </a:r>
            <a:r>
              <a:rPr b="0" i="0" lang="es-419" sz="1300" u="none" cap="none" strike="noStrike">
                <a:solidFill>
                  <a:srgbClr val="FFFFFF"/>
                </a:solidFill>
                <a:latin typeface="Urbanist"/>
                <a:ea typeface="Urbanist"/>
                <a:cs typeface="Urbanist"/>
                <a:sym typeface="Urbanist"/>
              </a:rPr>
              <a:t>.</a:t>
            </a:r>
            <a:endParaRPr b="0" i="0" sz="1300" u="none" cap="none" strike="noStrike">
              <a:solidFill>
                <a:srgbClr val="FFFFFF"/>
              </a:solidFill>
              <a:latin typeface="Urbanist"/>
              <a:ea typeface="Urbanist"/>
              <a:cs typeface="Urbanist"/>
              <a:sym typeface="Urbanist"/>
            </a:endParaRPr>
          </a:p>
        </p:txBody>
      </p:sp>
      <p:sp>
        <p:nvSpPr>
          <p:cNvPr id="264" name="Google Shape;264;p37"/>
          <p:cNvSpPr txBox="1"/>
          <p:nvPr/>
        </p:nvSpPr>
        <p:spPr>
          <a:xfrm>
            <a:off x="285750" y="4905375"/>
            <a:ext cx="8572500" cy="190500"/>
          </a:xfrm>
          <a:prstGeom prst="rect">
            <a:avLst/>
          </a:prstGeom>
          <a:solidFill>
            <a:srgbClr val="000000">
              <a:alpha val="0"/>
            </a:srgbClr>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1" lang="es-419" sz="800" u="none" cap="none" strike="noStrike">
                <a:solidFill>
                  <a:srgbClr val="94A3B8"/>
                </a:solidFill>
                <a:latin typeface="Lato"/>
                <a:ea typeface="Lato"/>
                <a:cs typeface="Lato"/>
                <a:sym typeface="Lato"/>
              </a:rPr>
              <a:t>Fuente: DANE - Cuenta Satélite de Economía Cultural y Creativa (CSECC) 2024p.</a:t>
            </a:r>
            <a:endParaRPr b="0" i="1" sz="800" u="none" cap="none" strike="noStrike">
              <a:solidFill>
                <a:srgbClr val="94A3B8"/>
              </a:solidFill>
              <a:latin typeface="Lato"/>
              <a:ea typeface="Lato"/>
              <a:cs typeface="Lato"/>
              <a:sym typeface="Lato"/>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38"/>
          <p:cNvSpPr txBox="1"/>
          <p:nvPr/>
        </p:nvSpPr>
        <p:spPr>
          <a:xfrm>
            <a:off x="191013" y="340047"/>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Objetivo General</a:t>
            </a:r>
            <a:endParaRPr b="0" i="0" sz="1100" u="none" cap="none" strike="noStrike">
              <a:solidFill>
                <a:srgbClr val="000000"/>
              </a:solidFill>
              <a:latin typeface="Arial"/>
              <a:ea typeface="Arial"/>
              <a:cs typeface="Arial"/>
              <a:sym typeface="Arial"/>
            </a:endParaRPr>
          </a:p>
        </p:txBody>
      </p:sp>
      <p:pic>
        <p:nvPicPr>
          <p:cNvPr id="271" name="Google Shape;271;p38"/>
          <p:cNvPicPr preferRelativeResize="0"/>
          <p:nvPr/>
        </p:nvPicPr>
        <p:blipFill rotWithShape="1">
          <a:blip r:embed="rId3">
            <a:alphaModFix/>
          </a:blip>
          <a:srcRect b="0" l="0" r="0" t="0"/>
          <a:stretch/>
        </p:blipFill>
        <p:spPr>
          <a:xfrm>
            <a:off x="5223675" y="2002046"/>
            <a:ext cx="3617363" cy="1965254"/>
          </a:xfrm>
          <a:prstGeom prst="rect">
            <a:avLst/>
          </a:prstGeom>
          <a:noFill/>
          <a:ln>
            <a:noFill/>
          </a:ln>
        </p:spPr>
      </p:pic>
      <p:sp>
        <p:nvSpPr>
          <p:cNvPr id="272" name="Google Shape;272;p38"/>
          <p:cNvSpPr/>
          <p:nvPr/>
        </p:nvSpPr>
        <p:spPr>
          <a:xfrm>
            <a:off x="5112925" y="1760924"/>
            <a:ext cx="476400" cy="476400"/>
          </a:xfrm>
          <a:prstGeom prst="ellipse">
            <a:avLst/>
          </a:prstGeom>
          <a:solidFill>
            <a:srgbClr val="22C55E"/>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73" name="Google Shape;273;p38"/>
          <p:cNvGrpSpPr/>
          <p:nvPr/>
        </p:nvGrpSpPr>
        <p:grpSpPr>
          <a:xfrm>
            <a:off x="191025" y="1261510"/>
            <a:ext cx="4572000" cy="3364421"/>
            <a:chOff x="4191000" y="1428750"/>
            <a:chExt cx="4572000" cy="2857500"/>
          </a:xfrm>
        </p:grpSpPr>
        <p:sp>
          <p:nvSpPr>
            <p:cNvPr id="274" name="Google Shape;274;p38"/>
            <p:cNvSpPr/>
            <p:nvPr/>
          </p:nvSpPr>
          <p:spPr>
            <a:xfrm>
              <a:off x="4191000" y="1428750"/>
              <a:ext cx="4572000" cy="2857500"/>
            </a:xfrm>
            <a:prstGeom prst="roundRect">
              <a:avLst>
                <a:gd fmla="val 5000" name="adj"/>
              </a:avLst>
            </a:prstGeom>
            <a:solidFill>
              <a:srgbClr val="F8F9F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38"/>
            <p:cNvSpPr/>
            <p:nvPr/>
          </p:nvSpPr>
          <p:spPr>
            <a:xfrm>
              <a:off x="4191000" y="2000250"/>
              <a:ext cx="47700" cy="1714500"/>
            </a:xfrm>
            <a:prstGeom prst="rect">
              <a:avLst/>
            </a:prstGeom>
            <a:solidFill>
              <a:srgbClr val="39A9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38"/>
          <p:cNvSpPr txBox="1"/>
          <p:nvPr/>
        </p:nvSpPr>
        <p:spPr>
          <a:xfrm>
            <a:off x="472446" y="2154863"/>
            <a:ext cx="4145400" cy="1577700"/>
          </a:xfrm>
          <a:prstGeom prst="rect">
            <a:avLst/>
          </a:prstGeom>
          <a:noFill/>
          <a:ln>
            <a:noFill/>
          </a:ln>
        </p:spPr>
        <p:txBody>
          <a:bodyPr anchorCtr="0" anchor="t" bIns="34275" lIns="68575" spcFirstLastPara="1" rIns="68575" wrap="square" tIns="34275">
            <a:spAutoFit/>
          </a:bodyPr>
          <a:lstStyle/>
          <a:p>
            <a:pPr indent="-215900" lvl="0" marL="215900" marR="0" rtl="0" algn="l">
              <a:lnSpc>
                <a:spcPct val="100000"/>
              </a:lnSpc>
              <a:spcBef>
                <a:spcPts val="0"/>
              </a:spcBef>
              <a:spcAft>
                <a:spcPts val="0"/>
              </a:spcAft>
              <a:buClr>
                <a:schemeClr val="dk1"/>
              </a:buClr>
              <a:buSzPts val="1400"/>
              <a:buFont typeface="Arial"/>
              <a:buChar char="•"/>
            </a:pPr>
            <a:r>
              <a:rPr b="0" i="0" lang="es-419" sz="1400" u="none" cap="none" strike="noStrike">
                <a:solidFill>
                  <a:schemeClr val="dk1"/>
                </a:solidFill>
                <a:latin typeface="Calibri"/>
                <a:ea typeface="Calibri"/>
                <a:cs typeface="Calibri"/>
                <a:sym typeface="Calibri"/>
              </a:rPr>
              <a:t>Impulsar la competitividad de los productores de artesanías y artículos de naturaleza autóctona en Colombia, mediante el desarrollo de una plataforma de comercio electrónico que integre herramientas de gestión comercial permitiendo la transición desde modelos de venta tradicionales hacia mercados estructurados.</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9"/>
          <p:cNvSpPr txBox="1"/>
          <p:nvPr/>
        </p:nvSpPr>
        <p:spPr>
          <a:xfrm>
            <a:off x="222863" y="2922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Requerimientos</a:t>
            </a:r>
            <a:endParaRPr b="0" i="0" sz="1100" u="none" cap="none" strike="noStrike">
              <a:solidFill>
                <a:srgbClr val="000000"/>
              </a:solidFill>
              <a:latin typeface="Arial"/>
              <a:ea typeface="Arial"/>
              <a:cs typeface="Arial"/>
              <a:sym typeface="Arial"/>
            </a:endParaRPr>
          </a:p>
        </p:txBody>
      </p:sp>
      <p:sp>
        <p:nvSpPr>
          <p:cNvPr id="283" name="Google Shape;283;p39"/>
          <p:cNvSpPr/>
          <p:nvPr/>
        </p:nvSpPr>
        <p:spPr>
          <a:xfrm>
            <a:off x="0" y="809625"/>
            <a:ext cx="9144000" cy="76200"/>
          </a:xfrm>
          <a:prstGeom prst="rect">
            <a:avLst/>
          </a:prstGeom>
          <a:solidFill>
            <a:srgbClr val="39A9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284" name="Google Shape;284;p39"/>
          <p:cNvGrpSpPr/>
          <p:nvPr/>
        </p:nvGrpSpPr>
        <p:grpSpPr>
          <a:xfrm>
            <a:off x="381000" y="1095375"/>
            <a:ext cx="2000100" cy="1238400"/>
            <a:chOff x="381000" y="1095375"/>
            <a:chExt cx="2000100" cy="1238400"/>
          </a:xfrm>
        </p:grpSpPr>
        <p:sp>
          <p:nvSpPr>
            <p:cNvPr id="285" name="Google Shape;285;p39"/>
            <p:cNvSpPr/>
            <p:nvPr/>
          </p:nvSpPr>
          <p:spPr>
            <a:xfrm>
              <a:off x="381000" y="1095375"/>
              <a:ext cx="2000100" cy="1238400"/>
            </a:xfrm>
            <a:prstGeom prst="roundRect">
              <a:avLst>
                <a:gd fmla="val 11538"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6" name="Google Shape;286;p39"/>
            <p:cNvSpPr txBox="1"/>
            <p:nvPr/>
          </p:nvSpPr>
          <p:spPr>
            <a:xfrm>
              <a:off x="381000" y="1095375"/>
              <a:ext cx="2000100" cy="1238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s-419" sz="1300">
                  <a:solidFill>
                    <a:srgbClr val="64748B"/>
                  </a:solidFill>
                  <a:latin typeface="Calibri"/>
                  <a:ea typeface="Calibri"/>
                  <a:cs typeface="Calibri"/>
                  <a:sym typeface="Calibri"/>
                </a:rPr>
                <a:t>Total Requerimientos</a:t>
              </a:r>
              <a:endParaRPr b="1" sz="1300">
                <a:solidFill>
                  <a:srgbClr val="64748B"/>
                </a:solidFill>
                <a:latin typeface="Calibri"/>
                <a:ea typeface="Calibri"/>
                <a:cs typeface="Calibri"/>
                <a:sym typeface="Calibri"/>
              </a:endParaRPr>
            </a:p>
            <a:p>
              <a:pPr indent="0" lvl="0" marL="0" rtl="0" algn="ctr">
                <a:spcBef>
                  <a:spcPts val="375"/>
                </a:spcBef>
                <a:spcAft>
                  <a:spcPts val="0"/>
                </a:spcAft>
                <a:buNone/>
              </a:pPr>
              <a:r>
                <a:rPr b="1" lang="es-419" sz="3400">
                  <a:solidFill>
                    <a:srgbClr val="39A900"/>
                  </a:solidFill>
                  <a:latin typeface="Calibri"/>
                  <a:ea typeface="Calibri"/>
                  <a:cs typeface="Calibri"/>
                  <a:sym typeface="Calibri"/>
                </a:rPr>
                <a:t>1017</a:t>
              </a:r>
              <a:endParaRPr b="1" sz="3400">
                <a:solidFill>
                  <a:srgbClr val="39A900"/>
                </a:solidFill>
                <a:latin typeface="Calibri"/>
                <a:ea typeface="Calibri"/>
                <a:cs typeface="Calibri"/>
                <a:sym typeface="Calibri"/>
              </a:endParaRPr>
            </a:p>
          </p:txBody>
        </p:sp>
      </p:grpSp>
      <p:grpSp>
        <p:nvGrpSpPr>
          <p:cNvPr id="287" name="Google Shape;287;p39"/>
          <p:cNvGrpSpPr/>
          <p:nvPr/>
        </p:nvGrpSpPr>
        <p:grpSpPr>
          <a:xfrm>
            <a:off x="2524125" y="1095375"/>
            <a:ext cx="2000100" cy="1238400"/>
            <a:chOff x="2524125" y="1095375"/>
            <a:chExt cx="2000100" cy="1238400"/>
          </a:xfrm>
        </p:grpSpPr>
        <p:sp>
          <p:nvSpPr>
            <p:cNvPr id="288" name="Google Shape;288;p39"/>
            <p:cNvSpPr/>
            <p:nvPr/>
          </p:nvSpPr>
          <p:spPr>
            <a:xfrm>
              <a:off x="2524125" y="1095375"/>
              <a:ext cx="2000100" cy="1238400"/>
            </a:xfrm>
            <a:prstGeom prst="roundRect">
              <a:avLst>
                <a:gd fmla="val 11538"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89" name="Google Shape;289;p39"/>
            <p:cNvSpPr txBox="1"/>
            <p:nvPr/>
          </p:nvSpPr>
          <p:spPr>
            <a:xfrm>
              <a:off x="2524125" y="1095375"/>
              <a:ext cx="2000100" cy="12384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s-419" sz="1300">
                  <a:solidFill>
                    <a:srgbClr val="64748B"/>
                  </a:solidFill>
                  <a:latin typeface="Calibri"/>
                  <a:ea typeface="Calibri"/>
                  <a:cs typeface="Calibri"/>
                  <a:sym typeface="Calibri"/>
                </a:rPr>
                <a:t>Desarrollados</a:t>
              </a:r>
              <a:endParaRPr b="1" sz="1300">
                <a:solidFill>
                  <a:srgbClr val="64748B"/>
                </a:solidFill>
                <a:latin typeface="Calibri"/>
                <a:ea typeface="Calibri"/>
                <a:cs typeface="Calibri"/>
                <a:sym typeface="Calibri"/>
              </a:endParaRPr>
            </a:p>
            <a:p>
              <a:pPr indent="0" lvl="0" marL="0" rtl="0" algn="ctr">
                <a:spcBef>
                  <a:spcPts val="375"/>
                </a:spcBef>
                <a:spcAft>
                  <a:spcPts val="0"/>
                </a:spcAft>
                <a:buNone/>
              </a:pPr>
              <a:r>
                <a:rPr b="1" lang="es-419" sz="3400">
                  <a:solidFill>
                    <a:srgbClr val="0F172A"/>
                  </a:solidFill>
                  <a:latin typeface="Calibri"/>
                  <a:ea typeface="Calibri"/>
                  <a:cs typeface="Calibri"/>
                  <a:sym typeface="Calibri"/>
                </a:rPr>
                <a:t>1017</a:t>
              </a:r>
              <a:endParaRPr b="1" sz="3400">
                <a:solidFill>
                  <a:srgbClr val="0F172A"/>
                </a:solidFill>
                <a:latin typeface="Calibri"/>
                <a:ea typeface="Calibri"/>
                <a:cs typeface="Calibri"/>
                <a:sym typeface="Calibri"/>
              </a:endParaRPr>
            </a:p>
          </p:txBody>
        </p:sp>
      </p:grpSp>
      <p:grpSp>
        <p:nvGrpSpPr>
          <p:cNvPr id="290" name="Google Shape;290;p39"/>
          <p:cNvGrpSpPr/>
          <p:nvPr/>
        </p:nvGrpSpPr>
        <p:grpSpPr>
          <a:xfrm>
            <a:off x="4667250" y="1061950"/>
            <a:ext cx="2000100" cy="1305225"/>
            <a:chOff x="4667250" y="1028550"/>
            <a:chExt cx="2000100" cy="1305225"/>
          </a:xfrm>
        </p:grpSpPr>
        <p:sp>
          <p:nvSpPr>
            <p:cNvPr id="291" name="Google Shape;291;p39"/>
            <p:cNvSpPr/>
            <p:nvPr/>
          </p:nvSpPr>
          <p:spPr>
            <a:xfrm>
              <a:off x="4667250" y="1095375"/>
              <a:ext cx="2000100" cy="1238400"/>
            </a:xfrm>
            <a:prstGeom prst="roundRect">
              <a:avLst>
                <a:gd fmla="val 11538"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2" name="Google Shape;292;p39"/>
            <p:cNvSpPr/>
            <p:nvPr/>
          </p:nvSpPr>
          <p:spPr>
            <a:xfrm>
              <a:off x="5334000" y="1381125"/>
              <a:ext cx="666900" cy="666900"/>
            </a:xfrm>
            <a:prstGeom prst="ellipse">
              <a:avLst/>
            </a:prstGeom>
            <a:solidFill>
              <a:srgbClr val="000000">
                <a:alpha val="0"/>
              </a:srgbClr>
            </a:solidFill>
            <a:ln cap="flat" cmpd="sng" w="76200">
              <a:solidFill>
                <a:srgbClr val="F1F5F9"/>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293" name="Google Shape;293;p39"/>
            <p:cNvPicPr preferRelativeResize="0"/>
            <p:nvPr/>
          </p:nvPicPr>
          <p:blipFill rotWithShape="1">
            <a:blip r:embed="rId3">
              <a:alphaModFix/>
            </a:blip>
            <a:srcRect b="0" l="0" r="0" t="0"/>
            <a:stretch/>
          </p:blipFill>
          <p:spPr>
            <a:xfrm>
              <a:off x="5295900" y="1343025"/>
              <a:ext cx="743100" cy="743100"/>
            </a:xfrm>
            <a:prstGeom prst="rect">
              <a:avLst/>
            </a:prstGeom>
            <a:noFill/>
            <a:ln>
              <a:noFill/>
            </a:ln>
          </p:spPr>
        </p:pic>
        <p:sp>
          <p:nvSpPr>
            <p:cNvPr id="294" name="Google Shape;294;p39"/>
            <p:cNvSpPr txBox="1"/>
            <p:nvPr/>
          </p:nvSpPr>
          <p:spPr>
            <a:xfrm>
              <a:off x="4667250" y="1028550"/>
              <a:ext cx="2000100" cy="1238400"/>
            </a:xfrm>
            <a:prstGeom prst="rect">
              <a:avLst/>
            </a:prstGeom>
            <a:noFill/>
            <a:ln>
              <a:noFill/>
            </a:ln>
          </p:spPr>
          <p:txBody>
            <a:bodyPr anchorCtr="0" anchor="t" bIns="0" lIns="0" spcFirstLastPara="1" rIns="0" wrap="square" tIns="142875">
              <a:noAutofit/>
            </a:bodyPr>
            <a:lstStyle/>
            <a:p>
              <a:pPr indent="0" lvl="0" marL="0" rtl="0" algn="ctr">
                <a:spcBef>
                  <a:spcPts val="0"/>
                </a:spcBef>
                <a:spcAft>
                  <a:spcPts val="0"/>
                </a:spcAft>
                <a:buNone/>
              </a:pPr>
              <a:r>
                <a:rPr b="1" lang="es-419" sz="1100">
                  <a:solidFill>
                    <a:srgbClr val="64748B"/>
                  </a:solidFill>
                  <a:latin typeface="Calibri"/>
                  <a:ea typeface="Calibri"/>
                  <a:cs typeface="Calibri"/>
                  <a:sym typeface="Calibri"/>
                </a:rPr>
                <a:t>Cumplimiento</a:t>
              </a:r>
              <a:endParaRPr b="1" sz="1100">
                <a:solidFill>
                  <a:srgbClr val="64748B"/>
                </a:solidFill>
                <a:latin typeface="Calibri"/>
                <a:ea typeface="Calibri"/>
                <a:cs typeface="Calibri"/>
                <a:sym typeface="Calibri"/>
              </a:endParaRPr>
            </a:p>
            <a:p>
              <a:pPr indent="0" lvl="0" marL="0" rtl="0" algn="ctr">
                <a:spcBef>
                  <a:spcPts val="0"/>
                </a:spcBef>
                <a:spcAft>
                  <a:spcPts val="0"/>
                </a:spcAft>
                <a:buNone/>
              </a:pPr>
              <a:r>
                <a:t/>
              </a:r>
              <a:endParaRPr b="1" sz="1600">
                <a:solidFill>
                  <a:srgbClr val="39A900"/>
                </a:solidFill>
                <a:latin typeface="Calibri"/>
                <a:ea typeface="Calibri"/>
                <a:cs typeface="Calibri"/>
                <a:sym typeface="Calibri"/>
              </a:endParaRPr>
            </a:p>
            <a:p>
              <a:pPr indent="0" lvl="0" marL="0" rtl="0" algn="ctr">
                <a:spcBef>
                  <a:spcPts val="0"/>
                </a:spcBef>
                <a:spcAft>
                  <a:spcPts val="0"/>
                </a:spcAft>
                <a:buNone/>
              </a:pPr>
              <a:r>
                <a:rPr b="1" lang="es-419" sz="1600">
                  <a:solidFill>
                    <a:srgbClr val="39A900"/>
                  </a:solidFill>
                  <a:latin typeface="Calibri"/>
                  <a:ea typeface="Calibri"/>
                  <a:cs typeface="Calibri"/>
                  <a:sym typeface="Calibri"/>
                </a:rPr>
                <a:t>100%</a:t>
              </a:r>
              <a:endParaRPr b="1" sz="1600">
                <a:solidFill>
                  <a:srgbClr val="39A900"/>
                </a:solidFill>
                <a:latin typeface="Calibri"/>
                <a:ea typeface="Calibri"/>
                <a:cs typeface="Calibri"/>
                <a:sym typeface="Calibri"/>
              </a:endParaRPr>
            </a:p>
          </p:txBody>
        </p:sp>
      </p:grpSp>
      <p:grpSp>
        <p:nvGrpSpPr>
          <p:cNvPr id="295" name="Google Shape;295;p39"/>
          <p:cNvGrpSpPr/>
          <p:nvPr/>
        </p:nvGrpSpPr>
        <p:grpSpPr>
          <a:xfrm>
            <a:off x="6953250" y="1095375"/>
            <a:ext cx="1809600" cy="3095700"/>
            <a:chOff x="6953250" y="1095375"/>
            <a:chExt cx="1809600" cy="3095700"/>
          </a:xfrm>
        </p:grpSpPr>
        <p:sp>
          <p:nvSpPr>
            <p:cNvPr id="296" name="Google Shape;296;p39"/>
            <p:cNvSpPr/>
            <p:nvPr/>
          </p:nvSpPr>
          <p:spPr>
            <a:xfrm>
              <a:off x="6953250" y="1095375"/>
              <a:ext cx="1809600" cy="3095700"/>
            </a:xfrm>
            <a:prstGeom prst="roundRect">
              <a:avLst>
                <a:gd fmla="val 7894"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297" name="Google Shape;297;p39"/>
            <p:cNvSpPr txBox="1"/>
            <p:nvPr/>
          </p:nvSpPr>
          <p:spPr>
            <a:xfrm>
              <a:off x="6953250" y="1190625"/>
              <a:ext cx="18096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s-419" sz="1000">
                  <a:solidFill>
                    <a:srgbClr val="64748B"/>
                  </a:solidFill>
                  <a:latin typeface="Work Sans"/>
                  <a:ea typeface="Work Sans"/>
                  <a:cs typeface="Work Sans"/>
                  <a:sym typeface="Work Sans"/>
                </a:rPr>
                <a:t>Acceso al documento</a:t>
              </a:r>
              <a:endParaRPr b="1" sz="1000">
                <a:solidFill>
                  <a:srgbClr val="64748B"/>
                </a:solidFill>
                <a:latin typeface="Work Sans"/>
                <a:ea typeface="Work Sans"/>
                <a:cs typeface="Work Sans"/>
                <a:sym typeface="Work Sans"/>
              </a:endParaRPr>
            </a:p>
          </p:txBody>
        </p:sp>
        <p:pic>
          <p:nvPicPr>
            <p:cNvPr id="298" name="Google Shape;298;p39"/>
            <p:cNvPicPr preferRelativeResize="0"/>
            <p:nvPr/>
          </p:nvPicPr>
          <p:blipFill rotWithShape="1">
            <a:blip r:embed="rId4">
              <a:alphaModFix/>
            </a:blip>
            <a:srcRect b="0" l="0" r="0" t="0"/>
            <a:stretch/>
          </p:blipFill>
          <p:spPr>
            <a:xfrm>
              <a:off x="7143750" y="1666875"/>
              <a:ext cx="1428900" cy="1428900"/>
            </a:xfrm>
            <a:prstGeom prst="rect">
              <a:avLst/>
            </a:prstGeom>
            <a:noFill/>
            <a:ln>
              <a:noFill/>
            </a:ln>
          </p:spPr>
        </p:pic>
        <p:sp>
          <p:nvSpPr>
            <p:cNvPr id="299" name="Google Shape;299;p39"/>
            <p:cNvSpPr txBox="1"/>
            <p:nvPr/>
          </p:nvSpPr>
          <p:spPr>
            <a:xfrm>
              <a:off x="6953250" y="3238500"/>
              <a:ext cx="1809600" cy="857400"/>
            </a:xfrm>
            <a:prstGeom prst="rect">
              <a:avLst/>
            </a:prstGeom>
            <a:noFill/>
            <a:ln>
              <a:noFill/>
            </a:ln>
          </p:spPr>
          <p:txBody>
            <a:bodyPr anchorCtr="0" anchor="ctr" bIns="0" lIns="142875" spcFirstLastPara="1" rIns="142875" wrap="square" tIns="0">
              <a:noAutofit/>
            </a:bodyPr>
            <a:lstStyle/>
            <a:p>
              <a:pPr indent="0" lvl="0" marL="0" rtl="0" algn="ctr">
                <a:spcBef>
                  <a:spcPts val="0"/>
                </a:spcBef>
                <a:spcAft>
                  <a:spcPts val="0"/>
                </a:spcAft>
                <a:buNone/>
              </a:pPr>
              <a:r>
                <a:rPr lang="es-419" sz="900">
                  <a:solidFill>
                    <a:srgbClr val="94A3B8"/>
                  </a:solidFill>
                  <a:latin typeface="Work Sans"/>
                  <a:ea typeface="Work Sans"/>
                  <a:cs typeface="Work Sans"/>
                  <a:sym typeface="Work Sans"/>
                </a:rPr>
                <a:t>Escanea para consultar el script detallado de los requerimientos.</a:t>
              </a:r>
              <a:endParaRPr sz="900">
                <a:solidFill>
                  <a:srgbClr val="94A3B8"/>
                </a:solidFill>
                <a:latin typeface="Work Sans"/>
                <a:ea typeface="Work Sans"/>
                <a:cs typeface="Work Sans"/>
                <a:sym typeface="Work Sans"/>
              </a:endParaRPr>
            </a:p>
          </p:txBody>
        </p:sp>
      </p:grpSp>
      <p:grpSp>
        <p:nvGrpSpPr>
          <p:cNvPr id="300" name="Google Shape;300;p39"/>
          <p:cNvGrpSpPr/>
          <p:nvPr/>
        </p:nvGrpSpPr>
        <p:grpSpPr>
          <a:xfrm>
            <a:off x="381000" y="2476500"/>
            <a:ext cx="6286500" cy="1714500"/>
            <a:chOff x="381000" y="2476500"/>
            <a:chExt cx="6286500" cy="1714500"/>
          </a:xfrm>
        </p:grpSpPr>
        <p:sp>
          <p:nvSpPr>
            <p:cNvPr id="301" name="Google Shape;301;p39"/>
            <p:cNvSpPr/>
            <p:nvPr/>
          </p:nvSpPr>
          <p:spPr>
            <a:xfrm>
              <a:off x="381000" y="2476500"/>
              <a:ext cx="6286500" cy="1714500"/>
            </a:xfrm>
            <a:prstGeom prst="roundRect">
              <a:avLst>
                <a:gd fmla="val 8333"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2" name="Google Shape;302;p39"/>
            <p:cNvSpPr txBox="1"/>
            <p:nvPr/>
          </p:nvSpPr>
          <p:spPr>
            <a:xfrm>
              <a:off x="619125" y="2619375"/>
              <a:ext cx="5810400" cy="215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s-419" sz="1400">
                  <a:solidFill>
                    <a:srgbClr val="475569"/>
                  </a:solidFill>
                  <a:latin typeface="Work Sans"/>
                  <a:ea typeface="Work Sans"/>
                  <a:cs typeface="Work Sans"/>
                  <a:sym typeface="Work Sans"/>
                </a:rPr>
                <a:t>Desglose de Requerimientos</a:t>
              </a:r>
              <a:endParaRPr b="1" sz="1400">
                <a:solidFill>
                  <a:srgbClr val="475569"/>
                </a:solidFill>
                <a:latin typeface="Work Sans"/>
                <a:ea typeface="Work Sans"/>
                <a:cs typeface="Work Sans"/>
                <a:sym typeface="Work Sans"/>
              </a:endParaRPr>
            </a:p>
          </p:txBody>
        </p:sp>
        <p:sp>
          <p:nvSpPr>
            <p:cNvPr id="303" name="Google Shape;303;p39"/>
            <p:cNvSpPr/>
            <p:nvPr/>
          </p:nvSpPr>
          <p:spPr>
            <a:xfrm>
              <a:off x="619125" y="3000375"/>
              <a:ext cx="5810400" cy="190500"/>
            </a:xfrm>
            <a:prstGeom prst="roundRect">
              <a:avLst>
                <a:gd fmla="val 50000" name="adj"/>
              </a:avLst>
            </a:prstGeom>
            <a:solidFill>
              <a:srgbClr val="F1F5F9"/>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4" name="Google Shape;304;p39"/>
            <p:cNvSpPr/>
            <p:nvPr/>
          </p:nvSpPr>
          <p:spPr>
            <a:xfrm>
              <a:off x="619125" y="3000375"/>
              <a:ext cx="3448200" cy="190500"/>
            </a:xfrm>
            <a:prstGeom prst="roundRect">
              <a:avLst>
                <a:gd fmla="val 50000" name="adj"/>
              </a:avLst>
            </a:prstGeom>
            <a:solidFill>
              <a:srgbClr val="39A900"/>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5" name="Google Shape;305;p39"/>
            <p:cNvSpPr txBox="1"/>
            <p:nvPr/>
          </p:nvSpPr>
          <p:spPr>
            <a:xfrm>
              <a:off x="619125" y="3333750"/>
              <a:ext cx="2762400" cy="714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s-419" sz="1000">
                  <a:solidFill>
                    <a:srgbClr val="475569"/>
                  </a:solidFill>
                  <a:latin typeface="Work Sans"/>
                  <a:ea typeface="Work Sans"/>
                  <a:cs typeface="Work Sans"/>
                  <a:sym typeface="Work Sans"/>
                </a:rPr>
                <a:t>Requerimientos Funcionales: 604</a:t>
              </a:r>
              <a:endParaRPr b="1" sz="1000">
                <a:solidFill>
                  <a:srgbClr val="475569"/>
                </a:solidFill>
                <a:latin typeface="Work Sans"/>
                <a:ea typeface="Work Sans"/>
                <a:cs typeface="Work Sans"/>
                <a:sym typeface="Work Sans"/>
              </a:endParaRPr>
            </a:p>
            <a:p>
              <a:pPr indent="0" lvl="0" marL="0" rtl="0" algn="l">
                <a:spcBef>
                  <a:spcPts val="375"/>
                </a:spcBef>
                <a:spcAft>
                  <a:spcPts val="0"/>
                </a:spcAft>
                <a:buNone/>
              </a:pPr>
              <a:r>
                <a:rPr lang="es-419" sz="900">
                  <a:solidFill>
                    <a:srgbClr val="94A3B8"/>
                  </a:solidFill>
                  <a:latin typeface="Work Sans"/>
                  <a:ea typeface="Work Sans"/>
                  <a:cs typeface="Work Sans"/>
                  <a:sym typeface="Work Sans"/>
                </a:rPr>
                <a:t>Especificaciones del comportamiento del sistema básico y UI</a:t>
              </a:r>
              <a:endParaRPr sz="900">
                <a:solidFill>
                  <a:srgbClr val="94A3B8"/>
                </a:solidFill>
                <a:latin typeface="Work Sans"/>
                <a:ea typeface="Work Sans"/>
                <a:cs typeface="Work Sans"/>
                <a:sym typeface="Work Sans"/>
              </a:endParaRPr>
            </a:p>
          </p:txBody>
        </p:sp>
        <p:sp>
          <p:nvSpPr>
            <p:cNvPr id="306" name="Google Shape;306;p39"/>
            <p:cNvSpPr txBox="1"/>
            <p:nvPr/>
          </p:nvSpPr>
          <p:spPr>
            <a:xfrm>
              <a:off x="3667125" y="3333750"/>
              <a:ext cx="2762400" cy="7143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s-419" sz="1000">
                  <a:solidFill>
                    <a:srgbClr val="475569"/>
                  </a:solidFill>
                  <a:latin typeface="Work Sans"/>
                  <a:ea typeface="Work Sans"/>
                  <a:cs typeface="Work Sans"/>
                  <a:sym typeface="Work Sans"/>
                </a:rPr>
                <a:t>Requerimientos </a:t>
              </a:r>
              <a:r>
                <a:rPr b="1" lang="es-419" sz="1000">
                  <a:solidFill>
                    <a:srgbClr val="475569"/>
                  </a:solidFill>
                  <a:latin typeface="Work Sans"/>
                  <a:ea typeface="Work Sans"/>
                  <a:cs typeface="Work Sans"/>
                  <a:sym typeface="Work Sans"/>
                </a:rPr>
                <a:t>No Funcionales: 413</a:t>
              </a:r>
              <a:endParaRPr b="1" sz="1000">
                <a:solidFill>
                  <a:srgbClr val="475569"/>
                </a:solidFill>
                <a:latin typeface="Work Sans"/>
                <a:ea typeface="Work Sans"/>
                <a:cs typeface="Work Sans"/>
                <a:sym typeface="Work Sans"/>
              </a:endParaRPr>
            </a:p>
            <a:p>
              <a:pPr indent="0" lvl="0" marL="0" rtl="0" algn="l">
                <a:spcBef>
                  <a:spcPts val="375"/>
                </a:spcBef>
                <a:spcAft>
                  <a:spcPts val="0"/>
                </a:spcAft>
                <a:buNone/>
              </a:pPr>
              <a:r>
                <a:rPr lang="es-419" sz="900">
                  <a:solidFill>
                    <a:srgbClr val="94A3B8"/>
                  </a:solidFill>
                  <a:latin typeface="Work Sans"/>
                  <a:ea typeface="Work Sans"/>
                  <a:cs typeface="Work Sans"/>
                  <a:sym typeface="Work Sans"/>
                </a:rPr>
                <a:t>Especificaciones técnicas implementadas por el analista.</a:t>
              </a:r>
              <a:endParaRPr sz="900">
                <a:solidFill>
                  <a:srgbClr val="94A3B8"/>
                </a:solidFill>
                <a:latin typeface="Work Sans"/>
                <a:ea typeface="Work Sans"/>
                <a:cs typeface="Work Sans"/>
                <a:sym typeface="Work Sans"/>
              </a:endParaRPr>
            </a:p>
          </p:txBody>
        </p:sp>
      </p:grpSp>
      <p:grpSp>
        <p:nvGrpSpPr>
          <p:cNvPr id="307" name="Google Shape;307;p39"/>
          <p:cNvGrpSpPr/>
          <p:nvPr/>
        </p:nvGrpSpPr>
        <p:grpSpPr>
          <a:xfrm>
            <a:off x="381000" y="4300325"/>
            <a:ext cx="8382000" cy="731700"/>
            <a:chOff x="381000" y="4300325"/>
            <a:chExt cx="8382000" cy="731700"/>
          </a:xfrm>
        </p:grpSpPr>
        <p:sp>
          <p:nvSpPr>
            <p:cNvPr id="308" name="Google Shape;308;p39"/>
            <p:cNvSpPr/>
            <p:nvPr/>
          </p:nvSpPr>
          <p:spPr>
            <a:xfrm>
              <a:off x="381000" y="4300325"/>
              <a:ext cx="8382000" cy="731700"/>
            </a:xfrm>
            <a:prstGeom prst="roundRect">
              <a:avLst>
                <a:gd fmla="val 50000" name="adj"/>
              </a:avLst>
            </a:prstGeom>
            <a:solidFill>
              <a:srgbClr val="0F172A"/>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309" name="Google Shape;309;p39"/>
            <p:cNvSpPr txBox="1"/>
            <p:nvPr/>
          </p:nvSpPr>
          <p:spPr>
            <a:xfrm>
              <a:off x="666750" y="4333875"/>
              <a:ext cx="7810500" cy="6192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s-419" sz="1100">
                  <a:solidFill>
                    <a:srgbClr val="39A900"/>
                  </a:solidFill>
                  <a:latin typeface="Urbanist"/>
                  <a:ea typeface="Urbanist"/>
                  <a:cs typeface="Urbanist"/>
                  <a:sym typeface="Urbanist"/>
                </a:rPr>
                <a:t>Ejemplo Checkout:</a:t>
              </a:r>
              <a:endParaRPr b="1" sz="1100">
                <a:solidFill>
                  <a:srgbClr val="39A900"/>
                </a:solidFill>
                <a:latin typeface="Urbanist"/>
                <a:ea typeface="Urbanist"/>
                <a:cs typeface="Urbanist"/>
                <a:sym typeface="Urbanist"/>
              </a:endParaRPr>
            </a:p>
            <a:p>
              <a:pPr indent="0" lvl="0" marL="0" rtl="0" algn="l">
                <a:spcBef>
                  <a:spcPts val="0"/>
                </a:spcBef>
                <a:spcAft>
                  <a:spcPts val="0"/>
                </a:spcAft>
                <a:buNone/>
              </a:pPr>
              <a:r>
                <a:rPr lang="es-419" sz="1100">
                  <a:solidFill>
                    <a:srgbClr val="FFFFFF"/>
                  </a:solidFill>
                  <a:latin typeface="Urbanist"/>
                  <a:ea typeface="Urbanist"/>
                  <a:cs typeface="Urbanist"/>
                  <a:sym typeface="Urbanist"/>
                </a:rPr>
                <a:t>RF 35: El sistema debe generar una factura después de procesar exitosamente el pago.</a:t>
              </a:r>
              <a:r>
                <a:rPr lang="es-419" sz="1100">
                  <a:solidFill>
                    <a:srgbClr val="FFFFFF"/>
                  </a:solidFill>
                  <a:latin typeface="Urbanist"/>
                  <a:ea typeface="Urbanist"/>
                  <a:cs typeface="Urbanist"/>
                  <a:sym typeface="Urbanist"/>
                </a:rPr>
                <a:t> </a:t>
              </a:r>
              <a:endParaRPr sz="1100">
                <a:solidFill>
                  <a:srgbClr val="FFFFFF"/>
                </a:solidFill>
                <a:latin typeface="Urbanist"/>
                <a:ea typeface="Urbanist"/>
                <a:cs typeface="Urbanist"/>
                <a:sym typeface="Urbanist"/>
              </a:endParaRPr>
            </a:p>
            <a:p>
              <a:pPr indent="0" lvl="0" marL="0" rtl="0" algn="l">
                <a:spcBef>
                  <a:spcPts val="0"/>
                </a:spcBef>
                <a:spcAft>
                  <a:spcPts val="0"/>
                </a:spcAft>
                <a:buNone/>
              </a:pPr>
              <a:r>
                <a:rPr lang="es-419" sz="1100">
                  <a:solidFill>
                    <a:srgbClr val="FFFFFF"/>
                  </a:solidFill>
                  <a:latin typeface="Urbanist"/>
                  <a:ea typeface="Urbanist"/>
                  <a:cs typeface="Urbanist"/>
                  <a:sym typeface="Urbanist"/>
                </a:rPr>
                <a:t>RNF 4:</a:t>
              </a:r>
              <a:r>
                <a:rPr lang="es-419" sz="1100">
                  <a:solidFill>
                    <a:srgbClr val="FFFFFF"/>
                  </a:solidFill>
                  <a:latin typeface="Urbanist"/>
                  <a:ea typeface="Urbanist"/>
                  <a:cs typeface="Urbanist"/>
                  <a:sym typeface="Urbanist"/>
                </a:rPr>
                <a:t>El sistema debe facturar el carrito ejecutando una función de base de datos con los productos, cantidades y datos de pago, </a:t>
              </a:r>
              <a:endParaRPr sz="1100">
                <a:solidFill>
                  <a:srgbClr val="FFFFFF"/>
                </a:solidFill>
                <a:latin typeface="Urbanist"/>
                <a:ea typeface="Urbanist"/>
                <a:cs typeface="Urbanist"/>
                <a:sym typeface="Urbanist"/>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40"/>
          <p:cNvSpPr txBox="1"/>
          <p:nvPr/>
        </p:nvSpPr>
        <p:spPr>
          <a:xfrm>
            <a:off x="191013" y="340047"/>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Modelo de datos - </a:t>
            </a:r>
            <a:r>
              <a:rPr b="1" lang="es-419" sz="2700">
                <a:solidFill>
                  <a:schemeClr val="lt1"/>
                </a:solidFill>
                <a:latin typeface="Calibri"/>
                <a:ea typeface="Calibri"/>
                <a:cs typeface="Calibri"/>
                <a:sym typeface="Calibri"/>
              </a:rPr>
              <a:t>Esquema </a:t>
            </a:r>
            <a:r>
              <a:rPr b="1" lang="es-419" sz="2700">
                <a:solidFill>
                  <a:schemeClr val="lt1"/>
                </a:solidFill>
                <a:latin typeface="Calibri"/>
                <a:ea typeface="Calibri"/>
                <a:cs typeface="Calibri"/>
                <a:sym typeface="Calibri"/>
              </a:rPr>
              <a:t>público</a:t>
            </a:r>
            <a:r>
              <a:rPr b="1" lang="es-419" sz="2700">
                <a:solidFill>
                  <a:schemeClr val="lt1"/>
                </a:solidFill>
                <a:latin typeface="Calibri"/>
                <a:ea typeface="Calibri"/>
                <a:cs typeface="Calibri"/>
                <a:sym typeface="Calibri"/>
              </a:rPr>
              <a:t> </a:t>
            </a:r>
            <a:endParaRPr b="0" i="0" sz="1100" u="none" cap="none" strike="noStrike">
              <a:solidFill>
                <a:srgbClr val="000000"/>
              </a:solidFill>
              <a:latin typeface="Arial"/>
              <a:ea typeface="Arial"/>
              <a:cs typeface="Arial"/>
              <a:sym typeface="Arial"/>
            </a:endParaRPr>
          </a:p>
        </p:txBody>
      </p:sp>
      <p:sp>
        <p:nvSpPr>
          <p:cNvPr id="316" name="Google Shape;316;p40"/>
          <p:cNvSpPr/>
          <p:nvPr/>
        </p:nvSpPr>
        <p:spPr>
          <a:xfrm>
            <a:off x="6858000" y="1333500"/>
            <a:ext cx="1905000" cy="2857500"/>
          </a:xfrm>
          <a:prstGeom prst="roundRect">
            <a:avLst>
              <a:gd fmla="val 6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7" name="Google Shape;317;p40"/>
          <p:cNvPicPr preferRelativeResize="0"/>
          <p:nvPr/>
        </p:nvPicPr>
        <p:blipFill rotWithShape="1">
          <a:blip r:embed="rId3">
            <a:alphaModFix/>
          </a:blip>
          <a:srcRect b="0" l="0" r="0" t="0"/>
          <a:stretch/>
        </p:blipFill>
        <p:spPr>
          <a:xfrm>
            <a:off x="6953250" y="1809750"/>
            <a:ext cx="1714500" cy="1714500"/>
          </a:xfrm>
          <a:prstGeom prst="rect">
            <a:avLst/>
          </a:prstGeom>
          <a:noFill/>
          <a:ln>
            <a:noFill/>
          </a:ln>
        </p:spPr>
      </p:pic>
      <p:grpSp>
        <p:nvGrpSpPr>
          <p:cNvPr id="318" name="Google Shape;318;p40"/>
          <p:cNvGrpSpPr/>
          <p:nvPr/>
        </p:nvGrpSpPr>
        <p:grpSpPr>
          <a:xfrm>
            <a:off x="381000" y="1333500"/>
            <a:ext cx="2000100" cy="1143000"/>
            <a:chOff x="381000" y="1333500"/>
            <a:chExt cx="2000100" cy="1143000"/>
          </a:xfrm>
        </p:grpSpPr>
        <p:sp>
          <p:nvSpPr>
            <p:cNvPr id="319" name="Google Shape;319;p40"/>
            <p:cNvSpPr/>
            <p:nvPr/>
          </p:nvSpPr>
          <p:spPr>
            <a:xfrm>
              <a:off x="381000" y="1333500"/>
              <a:ext cx="2000100" cy="1143000"/>
            </a:xfrm>
            <a:prstGeom prst="roundRect">
              <a:avLst>
                <a:gd fmla="val 10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p40"/>
            <p:cNvSpPr txBox="1"/>
            <p:nvPr/>
          </p:nvSpPr>
          <p:spPr>
            <a:xfrm>
              <a:off x="381000" y="1333500"/>
              <a:ext cx="2000100" cy="114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s-419" sz="1100" u="none" cap="none" strike="noStrike">
                  <a:solidFill>
                    <a:srgbClr val="64748B"/>
                  </a:solidFill>
                  <a:latin typeface="Work Sans SemiBold"/>
                  <a:ea typeface="Work Sans SemiBold"/>
                  <a:cs typeface="Work Sans SemiBold"/>
                  <a:sym typeface="Work Sans SemiBold"/>
                </a:rPr>
                <a:t>Total Tablas</a:t>
              </a:r>
              <a:endParaRPr b="0" i="0" sz="1100" u="none" cap="none" strike="noStrike">
                <a:solidFill>
                  <a:srgbClr val="64748B"/>
                </a:solidFill>
                <a:latin typeface="Work Sans SemiBold"/>
                <a:ea typeface="Work Sans SemiBold"/>
                <a:cs typeface="Work Sans SemiBold"/>
                <a:sym typeface="Work Sans SemiBold"/>
              </a:endParaRPr>
            </a:p>
            <a:p>
              <a:pPr indent="0" lvl="0" marL="0" marR="0" rtl="0" algn="ctr">
                <a:lnSpc>
                  <a:spcPct val="100000"/>
                </a:lnSpc>
                <a:spcBef>
                  <a:spcPts val="375"/>
                </a:spcBef>
                <a:spcAft>
                  <a:spcPts val="0"/>
                </a:spcAft>
                <a:buClr>
                  <a:srgbClr val="000000"/>
                </a:buClr>
                <a:buSzPts val="3600"/>
                <a:buFont typeface="Arial"/>
                <a:buNone/>
              </a:pPr>
              <a:r>
                <a:rPr b="1" i="0" lang="es-419" sz="3600" u="none" cap="none" strike="noStrike">
                  <a:solidFill>
                    <a:srgbClr val="39A900"/>
                  </a:solidFill>
                  <a:latin typeface="Work Sans"/>
                  <a:ea typeface="Work Sans"/>
                  <a:cs typeface="Work Sans"/>
                  <a:sym typeface="Work Sans"/>
                </a:rPr>
                <a:t>29</a:t>
              </a:r>
              <a:endParaRPr b="1" i="0" sz="3600" u="none" cap="none" strike="noStrike">
                <a:solidFill>
                  <a:srgbClr val="39A900"/>
                </a:solidFill>
                <a:latin typeface="Work Sans"/>
                <a:ea typeface="Work Sans"/>
                <a:cs typeface="Work Sans"/>
                <a:sym typeface="Work Sans"/>
              </a:endParaRPr>
            </a:p>
          </p:txBody>
        </p:sp>
      </p:grpSp>
      <p:grpSp>
        <p:nvGrpSpPr>
          <p:cNvPr id="321" name="Google Shape;321;p40"/>
          <p:cNvGrpSpPr/>
          <p:nvPr/>
        </p:nvGrpSpPr>
        <p:grpSpPr>
          <a:xfrm>
            <a:off x="2524125" y="1333500"/>
            <a:ext cx="2000100" cy="1143000"/>
            <a:chOff x="2524125" y="1333500"/>
            <a:chExt cx="2000100" cy="1143000"/>
          </a:xfrm>
        </p:grpSpPr>
        <p:sp>
          <p:nvSpPr>
            <p:cNvPr id="322" name="Google Shape;322;p40"/>
            <p:cNvSpPr/>
            <p:nvPr/>
          </p:nvSpPr>
          <p:spPr>
            <a:xfrm>
              <a:off x="2524125" y="1333500"/>
              <a:ext cx="2000100" cy="1143000"/>
            </a:xfrm>
            <a:prstGeom prst="roundRect">
              <a:avLst>
                <a:gd fmla="val 10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40"/>
            <p:cNvSpPr txBox="1"/>
            <p:nvPr/>
          </p:nvSpPr>
          <p:spPr>
            <a:xfrm>
              <a:off x="2524125" y="1333500"/>
              <a:ext cx="2000100" cy="114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s-419" sz="1100" u="none" cap="none" strike="noStrike">
                  <a:solidFill>
                    <a:srgbClr val="64748B"/>
                  </a:solidFill>
                  <a:latin typeface="Work Sans SemiBold"/>
                  <a:ea typeface="Work Sans SemiBold"/>
                  <a:cs typeface="Work Sans SemiBold"/>
                  <a:sym typeface="Work Sans SemiBold"/>
                </a:rPr>
                <a:t>Funciones PL/pgSQL</a:t>
              </a:r>
              <a:endParaRPr b="0" i="0" sz="1100" u="none" cap="none" strike="noStrike">
                <a:solidFill>
                  <a:srgbClr val="64748B"/>
                </a:solidFill>
                <a:latin typeface="Work Sans SemiBold"/>
                <a:ea typeface="Work Sans SemiBold"/>
                <a:cs typeface="Work Sans SemiBold"/>
                <a:sym typeface="Work Sans SemiBold"/>
              </a:endParaRPr>
            </a:p>
            <a:p>
              <a:pPr indent="0" lvl="0" marL="0" marR="0" rtl="0" algn="ctr">
                <a:lnSpc>
                  <a:spcPct val="100000"/>
                </a:lnSpc>
                <a:spcBef>
                  <a:spcPts val="375"/>
                </a:spcBef>
                <a:spcAft>
                  <a:spcPts val="0"/>
                </a:spcAft>
                <a:buClr>
                  <a:srgbClr val="000000"/>
                </a:buClr>
                <a:buSzPts val="3600"/>
                <a:buFont typeface="Arial"/>
                <a:buNone/>
              </a:pPr>
              <a:r>
                <a:rPr b="1" i="0" lang="es-419" sz="3600" u="none" cap="none" strike="noStrike">
                  <a:solidFill>
                    <a:srgbClr val="0F172A"/>
                  </a:solidFill>
                  <a:latin typeface="Work Sans"/>
                  <a:ea typeface="Work Sans"/>
                  <a:cs typeface="Work Sans"/>
                  <a:sym typeface="Work Sans"/>
                </a:rPr>
                <a:t>90</a:t>
              </a:r>
              <a:endParaRPr b="1" i="0" sz="3600" u="none" cap="none" strike="noStrike">
                <a:solidFill>
                  <a:srgbClr val="0F172A"/>
                </a:solidFill>
                <a:latin typeface="Work Sans"/>
                <a:ea typeface="Work Sans"/>
                <a:cs typeface="Work Sans"/>
                <a:sym typeface="Work Sans"/>
              </a:endParaRPr>
            </a:p>
          </p:txBody>
        </p:sp>
      </p:grpSp>
      <p:grpSp>
        <p:nvGrpSpPr>
          <p:cNvPr id="324" name="Google Shape;324;p40"/>
          <p:cNvGrpSpPr/>
          <p:nvPr/>
        </p:nvGrpSpPr>
        <p:grpSpPr>
          <a:xfrm>
            <a:off x="4667250" y="1333500"/>
            <a:ext cx="2000100" cy="1143000"/>
            <a:chOff x="4667250" y="1333500"/>
            <a:chExt cx="2000100" cy="1143000"/>
          </a:xfrm>
        </p:grpSpPr>
        <p:sp>
          <p:nvSpPr>
            <p:cNvPr id="325" name="Google Shape;325;p40"/>
            <p:cNvSpPr/>
            <p:nvPr/>
          </p:nvSpPr>
          <p:spPr>
            <a:xfrm>
              <a:off x="4667250" y="1333500"/>
              <a:ext cx="2000100" cy="1143000"/>
            </a:xfrm>
            <a:prstGeom prst="roundRect">
              <a:avLst>
                <a:gd fmla="val 100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40"/>
            <p:cNvSpPr txBox="1"/>
            <p:nvPr/>
          </p:nvSpPr>
          <p:spPr>
            <a:xfrm>
              <a:off x="4667250" y="1333500"/>
              <a:ext cx="2000100" cy="114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s-419" sz="1100" u="none" cap="none" strike="noStrike">
                  <a:solidFill>
                    <a:srgbClr val="64748B"/>
                  </a:solidFill>
                  <a:latin typeface="Work Sans SemiBold"/>
                  <a:ea typeface="Work Sans SemiBold"/>
                  <a:cs typeface="Work Sans SemiBold"/>
                  <a:sym typeface="Work Sans SemiBold"/>
                </a:rPr>
                <a:t>Total Triggers</a:t>
              </a:r>
              <a:endParaRPr b="0" i="0" sz="1100" u="none" cap="none" strike="noStrike">
                <a:solidFill>
                  <a:srgbClr val="64748B"/>
                </a:solidFill>
                <a:latin typeface="Work Sans SemiBold"/>
                <a:ea typeface="Work Sans SemiBold"/>
                <a:cs typeface="Work Sans SemiBold"/>
                <a:sym typeface="Work Sans SemiBold"/>
              </a:endParaRPr>
            </a:p>
            <a:p>
              <a:pPr indent="0" lvl="0" marL="0" marR="0" rtl="0" algn="ctr">
                <a:lnSpc>
                  <a:spcPct val="100000"/>
                </a:lnSpc>
                <a:spcBef>
                  <a:spcPts val="375"/>
                </a:spcBef>
                <a:spcAft>
                  <a:spcPts val="0"/>
                </a:spcAft>
                <a:buClr>
                  <a:srgbClr val="000000"/>
                </a:buClr>
                <a:buSzPts val="3600"/>
                <a:buFont typeface="Arial"/>
                <a:buNone/>
              </a:pPr>
              <a:r>
                <a:rPr b="1" i="0" lang="es-419" sz="3600" u="none" cap="none" strike="noStrike">
                  <a:solidFill>
                    <a:srgbClr val="0F172A"/>
                  </a:solidFill>
                  <a:latin typeface="Work Sans"/>
                  <a:ea typeface="Work Sans"/>
                  <a:cs typeface="Work Sans"/>
                  <a:sym typeface="Work Sans"/>
                </a:rPr>
                <a:t>4</a:t>
              </a:r>
              <a:endParaRPr b="1" i="0" sz="3600" u="none" cap="none" strike="noStrike">
                <a:solidFill>
                  <a:srgbClr val="0F172A"/>
                </a:solidFill>
                <a:latin typeface="Work Sans"/>
                <a:ea typeface="Work Sans"/>
                <a:cs typeface="Work Sans"/>
                <a:sym typeface="Work Sans"/>
              </a:endParaRPr>
            </a:p>
          </p:txBody>
        </p:sp>
      </p:grpSp>
      <p:grpSp>
        <p:nvGrpSpPr>
          <p:cNvPr id="327" name="Google Shape;327;p40"/>
          <p:cNvGrpSpPr/>
          <p:nvPr/>
        </p:nvGrpSpPr>
        <p:grpSpPr>
          <a:xfrm>
            <a:off x="380925" y="2825800"/>
            <a:ext cx="6286500" cy="1524000"/>
            <a:chOff x="381000" y="2667000"/>
            <a:chExt cx="6286500" cy="1524000"/>
          </a:xfrm>
        </p:grpSpPr>
        <p:sp>
          <p:nvSpPr>
            <p:cNvPr id="328" name="Google Shape;328;p40"/>
            <p:cNvSpPr/>
            <p:nvPr/>
          </p:nvSpPr>
          <p:spPr>
            <a:xfrm>
              <a:off x="381000" y="2667000"/>
              <a:ext cx="6286500" cy="1524000"/>
            </a:xfrm>
            <a:prstGeom prst="roundRect">
              <a:avLst>
                <a:gd fmla="val 7500"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 name="Google Shape;329;p40"/>
            <p:cNvSpPr txBox="1"/>
            <p:nvPr/>
          </p:nvSpPr>
          <p:spPr>
            <a:xfrm>
              <a:off x="666750" y="2809875"/>
              <a:ext cx="5715000" cy="28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s-419" sz="1400" u="none" cap="none" strike="noStrike">
                  <a:solidFill>
                    <a:srgbClr val="475569"/>
                  </a:solidFill>
                  <a:latin typeface="Work Sans"/>
                  <a:ea typeface="Work Sans"/>
                  <a:cs typeface="Work Sans"/>
                  <a:sym typeface="Work Sans"/>
                </a:rPr>
                <a:t>Distribución de Tablas</a:t>
              </a:r>
              <a:endParaRPr b="1" i="0" sz="1400" u="none" cap="none" strike="noStrike">
                <a:solidFill>
                  <a:srgbClr val="475569"/>
                </a:solidFill>
                <a:latin typeface="Work Sans"/>
                <a:ea typeface="Work Sans"/>
                <a:cs typeface="Work Sans"/>
                <a:sym typeface="Work Sans"/>
              </a:endParaRPr>
            </a:p>
          </p:txBody>
        </p:sp>
        <p:sp>
          <p:nvSpPr>
            <p:cNvPr id="330" name="Google Shape;330;p40"/>
            <p:cNvSpPr/>
            <p:nvPr/>
          </p:nvSpPr>
          <p:spPr>
            <a:xfrm>
              <a:off x="666750" y="3238500"/>
              <a:ext cx="5715000" cy="228600"/>
            </a:xfrm>
            <a:prstGeom prst="roundRect">
              <a:avLst>
                <a:gd fmla="val 50000" name="adj"/>
              </a:avLst>
            </a:prstGeom>
            <a:solidFill>
              <a:srgbClr val="F1F5F9"/>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1" name="Google Shape;331;p40"/>
            <p:cNvSpPr/>
            <p:nvPr/>
          </p:nvSpPr>
          <p:spPr>
            <a:xfrm>
              <a:off x="666750" y="3238500"/>
              <a:ext cx="2762400" cy="228600"/>
            </a:xfrm>
            <a:prstGeom prst="roundRect">
              <a:avLst>
                <a:gd fmla="val 50000" name="adj"/>
              </a:avLst>
            </a:prstGeom>
            <a:solidFill>
              <a:srgbClr val="39A900"/>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p40"/>
            <p:cNvSpPr/>
            <p:nvPr/>
          </p:nvSpPr>
          <p:spPr>
            <a:xfrm>
              <a:off x="3429000" y="3238500"/>
              <a:ext cx="2952900" cy="228600"/>
            </a:xfrm>
            <a:prstGeom prst="roundRect">
              <a:avLst>
                <a:gd fmla="val 50000" name="adj"/>
              </a:avLst>
            </a:prstGeom>
            <a:solidFill>
              <a:srgbClr val="0F172A"/>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40"/>
            <p:cNvSpPr txBox="1"/>
            <p:nvPr/>
          </p:nvSpPr>
          <p:spPr>
            <a:xfrm>
              <a:off x="666750" y="3571875"/>
              <a:ext cx="27624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s-419" sz="1000" u="none" cap="none" strike="noStrike">
                  <a:solidFill>
                    <a:srgbClr val="475569"/>
                  </a:solidFill>
                  <a:latin typeface="Work Sans"/>
                  <a:ea typeface="Work Sans"/>
                  <a:cs typeface="Work Sans"/>
                  <a:sym typeface="Work Sans"/>
                </a:rPr>
                <a:t>Tablas Maestras: 14</a:t>
              </a:r>
              <a:endParaRPr b="1" i="0" sz="1000" u="none" cap="none" strike="noStrike">
                <a:solidFill>
                  <a:srgbClr val="475569"/>
                </a:solidFill>
                <a:latin typeface="Work Sans"/>
                <a:ea typeface="Work Sans"/>
                <a:cs typeface="Work Sans"/>
                <a:sym typeface="Work Sans"/>
              </a:endParaRPr>
            </a:p>
            <a:p>
              <a:pPr indent="0" lvl="0" marL="0" marR="0" rtl="0" algn="l">
                <a:lnSpc>
                  <a:spcPct val="100000"/>
                </a:lnSpc>
                <a:spcBef>
                  <a:spcPts val="0"/>
                </a:spcBef>
                <a:spcAft>
                  <a:spcPts val="0"/>
                </a:spcAft>
                <a:buClr>
                  <a:srgbClr val="000000"/>
                </a:buClr>
                <a:buSzPts val="900"/>
                <a:buFont typeface="Arial"/>
                <a:buNone/>
              </a:pPr>
              <a:r>
                <a:rPr b="0" i="0" lang="es-419" sz="900" u="none" cap="none" strike="noStrike">
                  <a:solidFill>
                    <a:srgbClr val="94A3B8"/>
                  </a:solidFill>
                  <a:latin typeface="Work Sans"/>
                  <a:ea typeface="Work Sans"/>
                  <a:cs typeface="Work Sans"/>
                  <a:sym typeface="Work Sans"/>
                </a:rPr>
                <a:t>Datos de referencia y configuración</a:t>
              </a:r>
              <a:endParaRPr b="0" i="0" sz="900" u="none" cap="none" strike="noStrike">
                <a:solidFill>
                  <a:srgbClr val="94A3B8"/>
                </a:solidFill>
                <a:latin typeface="Work Sans"/>
                <a:ea typeface="Work Sans"/>
                <a:cs typeface="Work Sans"/>
                <a:sym typeface="Work Sans"/>
              </a:endParaRPr>
            </a:p>
          </p:txBody>
        </p:sp>
        <p:sp>
          <p:nvSpPr>
            <p:cNvPr id="334" name="Google Shape;334;p40"/>
            <p:cNvSpPr txBox="1"/>
            <p:nvPr/>
          </p:nvSpPr>
          <p:spPr>
            <a:xfrm>
              <a:off x="3619500" y="3571875"/>
              <a:ext cx="27624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1" i="0" lang="es-419" sz="1000" u="none" cap="none" strike="noStrike">
                  <a:solidFill>
                    <a:srgbClr val="475569"/>
                  </a:solidFill>
                  <a:latin typeface="Work Sans"/>
                  <a:ea typeface="Work Sans"/>
                  <a:cs typeface="Work Sans"/>
                  <a:sym typeface="Work Sans"/>
                </a:rPr>
                <a:t>Tablas Transaccionales: 15</a:t>
              </a:r>
              <a:endParaRPr b="1" i="0" sz="1000" u="none" cap="none" strike="noStrike">
                <a:solidFill>
                  <a:srgbClr val="475569"/>
                </a:solidFill>
                <a:latin typeface="Work Sans"/>
                <a:ea typeface="Work Sans"/>
                <a:cs typeface="Work Sans"/>
                <a:sym typeface="Work Sans"/>
              </a:endParaRPr>
            </a:p>
            <a:p>
              <a:pPr indent="0" lvl="0" marL="0" marR="0" rtl="0" algn="l">
                <a:lnSpc>
                  <a:spcPct val="100000"/>
                </a:lnSpc>
                <a:spcBef>
                  <a:spcPts val="0"/>
                </a:spcBef>
                <a:spcAft>
                  <a:spcPts val="0"/>
                </a:spcAft>
                <a:buClr>
                  <a:srgbClr val="000000"/>
                </a:buClr>
                <a:buSzPts val="900"/>
                <a:buFont typeface="Arial"/>
                <a:buNone/>
              </a:pPr>
              <a:r>
                <a:rPr b="0" i="0" lang="es-419" sz="900" u="none" cap="none" strike="noStrike">
                  <a:solidFill>
                    <a:srgbClr val="94A3B8"/>
                  </a:solidFill>
                  <a:latin typeface="Work Sans"/>
                  <a:ea typeface="Work Sans"/>
                  <a:cs typeface="Work Sans"/>
                  <a:sym typeface="Work Sans"/>
                </a:rPr>
                <a:t>Registro de operaciones y movimientos</a:t>
              </a:r>
              <a:endParaRPr b="0" i="0" sz="900" u="none" cap="none" strike="noStrike">
                <a:solidFill>
                  <a:srgbClr val="94A3B8"/>
                </a:solidFill>
                <a:latin typeface="Work Sans"/>
                <a:ea typeface="Work Sans"/>
                <a:cs typeface="Work Sans"/>
                <a:sym typeface="Work Sans"/>
              </a:endParaRPr>
            </a:p>
          </p:txBody>
        </p:sp>
      </p:grpSp>
      <p:sp>
        <p:nvSpPr>
          <p:cNvPr id="335" name="Google Shape;335;p40"/>
          <p:cNvSpPr txBox="1"/>
          <p:nvPr/>
        </p:nvSpPr>
        <p:spPr>
          <a:xfrm>
            <a:off x="6858000" y="1476375"/>
            <a:ext cx="1905000" cy="28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s-419" sz="1000" u="none" cap="none" strike="noStrike">
                <a:solidFill>
                  <a:srgbClr val="64748B"/>
                </a:solidFill>
                <a:latin typeface="Work Sans"/>
                <a:ea typeface="Work Sans"/>
                <a:cs typeface="Work Sans"/>
                <a:sym typeface="Work Sans"/>
              </a:rPr>
              <a:t>Acceso al script</a:t>
            </a:r>
            <a:endParaRPr b="1" i="0" sz="1000" u="none" cap="none" strike="noStrike">
              <a:solidFill>
                <a:srgbClr val="64748B"/>
              </a:solidFill>
              <a:latin typeface="Work Sans"/>
              <a:ea typeface="Work Sans"/>
              <a:cs typeface="Work Sans"/>
              <a:sym typeface="Work Sans"/>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41"/>
          <p:cNvSpPr txBox="1"/>
          <p:nvPr/>
        </p:nvSpPr>
        <p:spPr>
          <a:xfrm>
            <a:off x="191013" y="340047"/>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Estructura del proyecto</a:t>
            </a:r>
            <a:endParaRPr b="0" i="0" sz="1100" u="none" cap="none" strike="noStrike">
              <a:solidFill>
                <a:srgbClr val="000000"/>
              </a:solidFill>
              <a:latin typeface="Arial"/>
              <a:ea typeface="Arial"/>
              <a:cs typeface="Arial"/>
              <a:sym typeface="Arial"/>
            </a:endParaRPr>
          </a:p>
        </p:txBody>
      </p:sp>
      <p:pic>
        <p:nvPicPr>
          <p:cNvPr id="342" name="Google Shape;342;p41"/>
          <p:cNvPicPr preferRelativeResize="0"/>
          <p:nvPr/>
        </p:nvPicPr>
        <p:blipFill rotWithShape="1">
          <a:blip r:embed="rId3">
            <a:alphaModFix/>
          </a:blip>
          <a:srcRect b="0" l="0" r="0" t="0"/>
          <a:stretch/>
        </p:blipFill>
        <p:spPr>
          <a:xfrm>
            <a:off x="1720744" y="1144521"/>
            <a:ext cx="5702512" cy="399897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42"/>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Frontend </a:t>
            </a:r>
            <a:endParaRPr b="0" i="0" sz="1100" u="none" cap="none" strike="noStrike">
              <a:solidFill>
                <a:srgbClr val="000000"/>
              </a:solidFill>
              <a:latin typeface="Arial"/>
              <a:ea typeface="Arial"/>
              <a:cs typeface="Arial"/>
              <a:sym typeface="Arial"/>
            </a:endParaRPr>
          </a:p>
        </p:txBody>
      </p:sp>
      <p:grpSp>
        <p:nvGrpSpPr>
          <p:cNvPr id="349" name="Google Shape;349;p42"/>
          <p:cNvGrpSpPr/>
          <p:nvPr/>
        </p:nvGrpSpPr>
        <p:grpSpPr>
          <a:xfrm>
            <a:off x="4703617" y="1318287"/>
            <a:ext cx="4095900" cy="3619500"/>
            <a:chOff x="381000" y="1143000"/>
            <a:chExt cx="4095900" cy="3619500"/>
          </a:xfrm>
        </p:grpSpPr>
        <p:sp>
          <p:nvSpPr>
            <p:cNvPr id="350" name="Google Shape;350;p42"/>
            <p:cNvSpPr/>
            <p:nvPr/>
          </p:nvSpPr>
          <p:spPr>
            <a:xfrm>
              <a:off x="381000" y="1143000"/>
              <a:ext cx="4095900" cy="3619500"/>
            </a:xfrm>
            <a:prstGeom prst="roundRect">
              <a:avLst>
                <a:gd fmla="val 3947"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1" name="Google Shape;351;p42"/>
            <p:cNvSpPr txBox="1"/>
            <p:nvPr/>
          </p:nvSpPr>
          <p:spPr>
            <a:xfrm>
              <a:off x="571500" y="1333500"/>
              <a:ext cx="37149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s-419" sz="1800" u="none" cap="none" strike="noStrike">
                  <a:solidFill>
                    <a:srgbClr val="0F172A"/>
                  </a:solidFill>
                  <a:latin typeface="Work Sans"/>
                  <a:ea typeface="Work Sans"/>
                  <a:cs typeface="Work Sans"/>
                  <a:sym typeface="Work Sans"/>
                </a:rPr>
                <a:t>2. Client-Side (AJAX / Fetch)</a:t>
              </a:r>
              <a:endParaRPr b="1" i="0" sz="1800" u="none" cap="none" strike="noStrike">
                <a:solidFill>
                  <a:srgbClr val="0F172A"/>
                </a:solidFill>
                <a:latin typeface="Work Sans"/>
                <a:ea typeface="Work Sans"/>
                <a:cs typeface="Work Sans"/>
                <a:sym typeface="Work Sans"/>
              </a:endParaRPr>
            </a:p>
          </p:txBody>
        </p:sp>
        <p:sp>
          <p:nvSpPr>
            <p:cNvPr id="352" name="Google Shape;352;p42"/>
            <p:cNvSpPr txBox="1"/>
            <p:nvPr/>
          </p:nvSpPr>
          <p:spPr>
            <a:xfrm>
              <a:off x="571500" y="1762125"/>
              <a:ext cx="37149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s-419" sz="1100" u="none" cap="none" strike="noStrike">
                  <a:solidFill>
                    <a:srgbClr val="64748B"/>
                  </a:solidFill>
                  <a:latin typeface="Work Sans"/>
                  <a:ea typeface="Work Sans"/>
                  <a:cs typeface="Work Sans"/>
                  <a:sym typeface="Work Sans"/>
                </a:rPr>
                <a:t>Permite actualizaciones dinámicas sin recargar la página completa, mejorando la interactividad del usuario mediante peticiones asíncronas.</a:t>
              </a:r>
              <a:endParaRPr b="0" i="0" sz="1100" u="none" cap="none" strike="noStrike">
                <a:solidFill>
                  <a:srgbClr val="64748B"/>
                </a:solidFill>
                <a:latin typeface="Work Sans"/>
                <a:ea typeface="Work Sans"/>
                <a:cs typeface="Work Sans"/>
                <a:sym typeface="Work Sans"/>
              </a:endParaRPr>
            </a:p>
          </p:txBody>
        </p:sp>
        <p:pic>
          <p:nvPicPr>
            <p:cNvPr id="353" name="Google Shape;353;p42"/>
            <p:cNvPicPr preferRelativeResize="0"/>
            <p:nvPr/>
          </p:nvPicPr>
          <p:blipFill rotWithShape="1">
            <a:blip r:embed="rId3">
              <a:alphaModFix/>
            </a:blip>
            <a:srcRect b="0" l="0" r="0" t="0"/>
            <a:stretch/>
          </p:blipFill>
          <p:spPr>
            <a:xfrm>
              <a:off x="571500" y="2333625"/>
              <a:ext cx="3714900" cy="2334600"/>
            </a:xfrm>
            <a:prstGeom prst="roundRect">
              <a:avLst>
                <a:gd fmla="val 3809" name="adj"/>
              </a:avLst>
            </a:prstGeom>
            <a:noFill/>
            <a:ln>
              <a:noFill/>
            </a:ln>
          </p:spPr>
        </p:pic>
      </p:grpSp>
      <p:grpSp>
        <p:nvGrpSpPr>
          <p:cNvPr id="354" name="Google Shape;354;p42"/>
          <p:cNvGrpSpPr/>
          <p:nvPr/>
        </p:nvGrpSpPr>
        <p:grpSpPr>
          <a:xfrm>
            <a:off x="268281" y="1318287"/>
            <a:ext cx="4095900" cy="3619500"/>
            <a:chOff x="4667250" y="1143000"/>
            <a:chExt cx="4095900" cy="3619500"/>
          </a:xfrm>
        </p:grpSpPr>
        <p:sp>
          <p:nvSpPr>
            <p:cNvPr id="355" name="Google Shape;355;p42"/>
            <p:cNvSpPr/>
            <p:nvPr/>
          </p:nvSpPr>
          <p:spPr>
            <a:xfrm>
              <a:off x="4667250" y="1143000"/>
              <a:ext cx="4095900" cy="3619500"/>
            </a:xfrm>
            <a:prstGeom prst="roundRect">
              <a:avLst>
                <a:gd fmla="val 3947"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6" name="Google Shape;356;p42"/>
            <p:cNvSpPr txBox="1"/>
            <p:nvPr/>
          </p:nvSpPr>
          <p:spPr>
            <a:xfrm>
              <a:off x="4857750" y="1333500"/>
              <a:ext cx="37149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s-419" sz="1800" u="none" cap="none" strike="noStrike">
                  <a:solidFill>
                    <a:srgbClr val="0F172A"/>
                  </a:solidFill>
                  <a:latin typeface="Work Sans"/>
                  <a:ea typeface="Work Sans"/>
                  <a:cs typeface="Work Sans"/>
                  <a:sym typeface="Work Sans"/>
                </a:rPr>
                <a:t>1. Server-Side Rendering (SSR)</a:t>
              </a:r>
              <a:endParaRPr b="1" i="0" sz="1800" u="none" cap="none" strike="noStrike">
                <a:solidFill>
                  <a:srgbClr val="0F172A"/>
                </a:solidFill>
                <a:latin typeface="Work Sans"/>
                <a:ea typeface="Work Sans"/>
                <a:cs typeface="Work Sans"/>
                <a:sym typeface="Work Sans"/>
              </a:endParaRPr>
            </a:p>
          </p:txBody>
        </p:sp>
        <p:sp>
          <p:nvSpPr>
            <p:cNvPr id="357" name="Google Shape;357;p42"/>
            <p:cNvSpPr txBox="1"/>
            <p:nvPr/>
          </p:nvSpPr>
          <p:spPr>
            <a:xfrm>
              <a:off x="4857750" y="1762125"/>
              <a:ext cx="37149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s-419" sz="1100" u="none" cap="none" strike="noStrike">
                  <a:solidFill>
                    <a:srgbClr val="64748B"/>
                  </a:solidFill>
                  <a:latin typeface="Work Sans"/>
                  <a:ea typeface="Work Sans"/>
                  <a:cs typeface="Work Sans"/>
                  <a:sym typeface="Work Sans"/>
                </a:rPr>
                <a:t>El servidor genera el HTML completo para cada solicitud. Ideal para SEO y tiempos de carga inicial rápidos en conexiones lentas.</a:t>
              </a:r>
              <a:endParaRPr b="0" i="0" sz="1100" u="none" cap="none" strike="noStrike">
                <a:solidFill>
                  <a:srgbClr val="64748B"/>
                </a:solidFill>
                <a:latin typeface="Work Sans"/>
                <a:ea typeface="Work Sans"/>
                <a:cs typeface="Work Sans"/>
                <a:sym typeface="Work Sans"/>
              </a:endParaRPr>
            </a:p>
          </p:txBody>
        </p:sp>
        <p:pic>
          <p:nvPicPr>
            <p:cNvPr id="358" name="Google Shape;358;p42"/>
            <p:cNvPicPr preferRelativeResize="0"/>
            <p:nvPr/>
          </p:nvPicPr>
          <p:blipFill rotWithShape="1">
            <a:blip r:embed="rId4">
              <a:alphaModFix/>
            </a:blip>
            <a:srcRect b="700" l="0" r="0" t="700"/>
            <a:stretch/>
          </p:blipFill>
          <p:spPr>
            <a:xfrm>
              <a:off x="4857750" y="2476500"/>
              <a:ext cx="3714900" cy="2109600"/>
            </a:xfrm>
            <a:prstGeom prst="roundRect">
              <a:avLst>
                <a:gd fmla="val 3809" name="adj"/>
              </a:avLst>
            </a:prstGeom>
            <a:noFill/>
            <a:ln>
              <a:noFill/>
            </a:ln>
          </p:spPr>
        </p:pic>
      </p:gr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3" name="Shape 363"/>
        <p:cNvGrpSpPr/>
        <p:nvPr/>
      </p:nvGrpSpPr>
      <p:grpSpPr>
        <a:xfrm>
          <a:off x="0" y="0"/>
          <a:ext cx="0" cy="0"/>
          <a:chOff x="0" y="0"/>
          <a:chExt cx="0" cy="0"/>
        </a:xfrm>
      </p:grpSpPr>
      <p:sp>
        <p:nvSpPr>
          <p:cNvPr id="364" name="Google Shape;364;p43"/>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Backend</a:t>
            </a:r>
            <a:endParaRPr b="0" i="0" sz="1100" u="none" cap="none" strike="noStrike">
              <a:solidFill>
                <a:srgbClr val="000000"/>
              </a:solidFill>
              <a:latin typeface="Arial"/>
              <a:ea typeface="Arial"/>
              <a:cs typeface="Arial"/>
              <a:sym typeface="Arial"/>
            </a:endParaRPr>
          </a:p>
        </p:txBody>
      </p:sp>
      <p:grpSp>
        <p:nvGrpSpPr>
          <p:cNvPr id="365" name="Google Shape;365;p43"/>
          <p:cNvGrpSpPr/>
          <p:nvPr/>
        </p:nvGrpSpPr>
        <p:grpSpPr>
          <a:xfrm>
            <a:off x="381000" y="1143000"/>
            <a:ext cx="4095900" cy="3619500"/>
            <a:chOff x="381000" y="1143000"/>
            <a:chExt cx="4095900" cy="3619500"/>
          </a:xfrm>
        </p:grpSpPr>
        <p:sp>
          <p:nvSpPr>
            <p:cNvPr id="366" name="Google Shape;366;p43"/>
            <p:cNvSpPr/>
            <p:nvPr/>
          </p:nvSpPr>
          <p:spPr>
            <a:xfrm>
              <a:off x="381000" y="1143000"/>
              <a:ext cx="4095900" cy="3619500"/>
            </a:xfrm>
            <a:prstGeom prst="roundRect">
              <a:avLst>
                <a:gd fmla="val 3947"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 name="Google Shape;367;p43"/>
            <p:cNvSpPr txBox="1"/>
            <p:nvPr/>
          </p:nvSpPr>
          <p:spPr>
            <a:xfrm>
              <a:off x="571500" y="1333500"/>
              <a:ext cx="37149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s-419" sz="1800" u="none" cap="none" strike="noStrike">
                  <a:solidFill>
                    <a:srgbClr val="0F172A"/>
                  </a:solidFill>
                  <a:latin typeface="Work Sans"/>
                  <a:ea typeface="Work Sans"/>
                  <a:cs typeface="Work Sans"/>
                  <a:sym typeface="Work Sans"/>
                </a:rPr>
                <a:t>Thin Controllers</a:t>
              </a:r>
              <a:endParaRPr b="1" i="0" sz="1800" u="none" cap="none" strike="noStrike">
                <a:solidFill>
                  <a:srgbClr val="0F172A"/>
                </a:solidFill>
                <a:latin typeface="Work Sans"/>
                <a:ea typeface="Work Sans"/>
                <a:cs typeface="Work Sans"/>
                <a:sym typeface="Work Sans"/>
              </a:endParaRPr>
            </a:p>
          </p:txBody>
        </p:sp>
      </p:grpSp>
      <p:grpSp>
        <p:nvGrpSpPr>
          <p:cNvPr id="368" name="Google Shape;368;p43"/>
          <p:cNvGrpSpPr/>
          <p:nvPr/>
        </p:nvGrpSpPr>
        <p:grpSpPr>
          <a:xfrm>
            <a:off x="4667250" y="1143000"/>
            <a:ext cx="4095900" cy="3619500"/>
            <a:chOff x="4667250" y="1143000"/>
            <a:chExt cx="4095900" cy="3619500"/>
          </a:xfrm>
        </p:grpSpPr>
        <p:sp>
          <p:nvSpPr>
            <p:cNvPr id="369" name="Google Shape;369;p43"/>
            <p:cNvSpPr/>
            <p:nvPr/>
          </p:nvSpPr>
          <p:spPr>
            <a:xfrm>
              <a:off x="4667250" y="1143000"/>
              <a:ext cx="4095900" cy="3619500"/>
            </a:xfrm>
            <a:prstGeom prst="roundRect">
              <a:avLst>
                <a:gd fmla="val 3947"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43"/>
            <p:cNvSpPr txBox="1"/>
            <p:nvPr/>
          </p:nvSpPr>
          <p:spPr>
            <a:xfrm>
              <a:off x="4811550" y="1224875"/>
              <a:ext cx="3714900" cy="381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s-419" sz="1800" u="none" cap="none" strike="noStrike">
                  <a:solidFill>
                    <a:srgbClr val="0F172A"/>
                  </a:solidFill>
                  <a:latin typeface="Work Sans"/>
                  <a:ea typeface="Work Sans"/>
                  <a:cs typeface="Work Sans"/>
                  <a:sym typeface="Work Sans"/>
                </a:rPr>
                <a:t>Service layer</a:t>
              </a:r>
              <a:endParaRPr b="1" i="0" sz="1800" u="none" cap="none" strike="noStrike">
                <a:solidFill>
                  <a:srgbClr val="0F172A"/>
                </a:solidFill>
                <a:latin typeface="Work Sans"/>
                <a:ea typeface="Work Sans"/>
                <a:cs typeface="Work Sans"/>
                <a:sym typeface="Work Sans"/>
              </a:endParaRPr>
            </a:p>
          </p:txBody>
        </p:sp>
      </p:grpSp>
      <p:pic>
        <p:nvPicPr>
          <p:cNvPr id="371" name="Google Shape;371;p43"/>
          <p:cNvPicPr preferRelativeResize="0"/>
          <p:nvPr/>
        </p:nvPicPr>
        <p:blipFill rotWithShape="1">
          <a:blip r:embed="rId3">
            <a:alphaModFix/>
          </a:blip>
          <a:srcRect b="0" l="0" r="0" t="0"/>
          <a:stretch/>
        </p:blipFill>
        <p:spPr>
          <a:xfrm>
            <a:off x="571500" y="2338617"/>
            <a:ext cx="3714900" cy="2062883"/>
          </a:xfrm>
          <a:prstGeom prst="rect">
            <a:avLst/>
          </a:prstGeom>
          <a:solidFill>
            <a:srgbClr val="FFFFFF"/>
          </a:solidFill>
          <a:ln cap="flat" cmpd="sng" w="9525">
            <a:solidFill>
              <a:srgbClr val="E2E8F0"/>
            </a:solidFill>
            <a:prstDash val="solid"/>
            <a:round/>
            <a:headEnd len="sm" w="sm" type="none"/>
            <a:tailEnd len="sm" w="sm" type="none"/>
          </a:ln>
        </p:spPr>
      </p:pic>
      <p:pic>
        <p:nvPicPr>
          <p:cNvPr id="372" name="Google Shape;372;p43"/>
          <p:cNvPicPr preferRelativeResize="0"/>
          <p:nvPr/>
        </p:nvPicPr>
        <p:blipFill rotWithShape="1">
          <a:blip r:embed="rId4">
            <a:alphaModFix/>
          </a:blip>
          <a:srcRect b="0" l="0" r="0" t="0"/>
          <a:stretch/>
        </p:blipFill>
        <p:spPr>
          <a:xfrm>
            <a:off x="4850275" y="2255950"/>
            <a:ext cx="3637450" cy="2370473"/>
          </a:xfrm>
          <a:prstGeom prst="rect">
            <a:avLst/>
          </a:prstGeom>
          <a:noFill/>
          <a:ln>
            <a:noFill/>
          </a:ln>
        </p:spPr>
      </p:pic>
      <p:sp>
        <p:nvSpPr>
          <p:cNvPr id="373" name="Google Shape;373;p43"/>
          <p:cNvSpPr txBox="1"/>
          <p:nvPr/>
        </p:nvSpPr>
        <p:spPr>
          <a:xfrm>
            <a:off x="571500" y="1812250"/>
            <a:ext cx="37149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s-419" sz="1100" u="none" cap="none" strike="noStrike">
                <a:solidFill>
                  <a:srgbClr val="64748B"/>
                </a:solidFill>
                <a:latin typeface="Work Sans"/>
                <a:ea typeface="Work Sans"/>
                <a:cs typeface="Work Sans"/>
                <a:sym typeface="Work Sans"/>
              </a:rPr>
              <a:t>El controlador solo orquesta las peticiones, las recibe, llama el servicio y devuelve una respuesta.</a:t>
            </a:r>
            <a:endParaRPr b="0" i="0" sz="1100" u="none" cap="none" strike="noStrike">
              <a:solidFill>
                <a:srgbClr val="64748B"/>
              </a:solidFill>
              <a:latin typeface="Work Sans"/>
              <a:ea typeface="Work Sans"/>
              <a:cs typeface="Work Sans"/>
              <a:sym typeface="Work Sans"/>
            </a:endParaRPr>
          </a:p>
        </p:txBody>
      </p:sp>
      <p:sp>
        <p:nvSpPr>
          <p:cNvPr id="374" name="Google Shape;374;p43"/>
          <p:cNvSpPr txBox="1"/>
          <p:nvPr/>
        </p:nvSpPr>
        <p:spPr>
          <a:xfrm>
            <a:off x="4811550" y="1642675"/>
            <a:ext cx="3714900" cy="57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s-419" sz="1100" u="none" cap="none" strike="noStrike">
                <a:solidFill>
                  <a:srgbClr val="64748B"/>
                </a:solidFill>
                <a:latin typeface="Work Sans"/>
                <a:ea typeface="Work Sans"/>
                <a:cs typeface="Work Sans"/>
                <a:sym typeface="Work Sans"/>
              </a:rPr>
              <a:t>Es la capa del proyecto que contiene la lógica del negocio, y maneja las transacciones dentro de las bases de datos ya sea Postgresql o Redis.</a:t>
            </a:r>
            <a:endParaRPr b="0" i="0" sz="1100" u="none" cap="none" strike="noStrike">
              <a:solidFill>
                <a:srgbClr val="64748B"/>
              </a:solidFill>
              <a:latin typeface="Work Sans"/>
              <a:ea typeface="Work Sans"/>
              <a:cs typeface="Work Sans"/>
              <a:sym typeface="Work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44"/>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Funciones plpgsql </a:t>
            </a:r>
            <a:endParaRPr b="0" i="0" sz="1100" u="none" cap="none" strike="noStrike">
              <a:solidFill>
                <a:srgbClr val="000000"/>
              </a:solidFill>
              <a:latin typeface="Arial"/>
              <a:ea typeface="Arial"/>
              <a:cs typeface="Arial"/>
              <a:sym typeface="Arial"/>
            </a:endParaRPr>
          </a:p>
        </p:txBody>
      </p:sp>
      <p:sp>
        <p:nvSpPr>
          <p:cNvPr id="381" name="Google Shape;381;p44"/>
          <p:cNvSpPr/>
          <p:nvPr/>
        </p:nvSpPr>
        <p:spPr>
          <a:xfrm>
            <a:off x="381050" y="1143050"/>
            <a:ext cx="8433900" cy="3920400"/>
          </a:xfrm>
          <a:prstGeom prst="roundRect">
            <a:avLst>
              <a:gd fmla="val 3947" name="adj"/>
            </a:avLst>
          </a:prstGeom>
          <a:solidFill>
            <a:srgbClr val="FFFFFF"/>
          </a:solidFill>
          <a:ln cap="flat" cmpd="sng" w="9525">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44"/>
          <p:cNvPicPr preferRelativeResize="0"/>
          <p:nvPr/>
        </p:nvPicPr>
        <p:blipFill rotWithShape="1">
          <a:blip r:embed="rId3">
            <a:alphaModFix/>
          </a:blip>
          <a:srcRect b="0" l="0" r="0" t="0"/>
          <a:stretch/>
        </p:blipFill>
        <p:spPr>
          <a:xfrm>
            <a:off x="421925" y="1716650"/>
            <a:ext cx="4461974" cy="2511200"/>
          </a:xfrm>
          <a:prstGeom prst="rect">
            <a:avLst/>
          </a:prstGeom>
          <a:noFill/>
          <a:ln>
            <a:noFill/>
          </a:ln>
        </p:spPr>
      </p:pic>
      <p:pic>
        <p:nvPicPr>
          <p:cNvPr id="383" name="Google Shape;383;p44"/>
          <p:cNvPicPr preferRelativeResize="0"/>
          <p:nvPr/>
        </p:nvPicPr>
        <p:blipFill>
          <a:blip r:embed="rId4">
            <a:alphaModFix/>
          </a:blip>
          <a:stretch>
            <a:fillRect/>
          </a:stretch>
        </p:blipFill>
        <p:spPr>
          <a:xfrm>
            <a:off x="5003750" y="1191175"/>
            <a:ext cx="3520700" cy="2423599"/>
          </a:xfrm>
          <a:prstGeom prst="rect">
            <a:avLst/>
          </a:prstGeom>
          <a:solidFill>
            <a:srgbClr val="FFFFFF"/>
          </a:solidFill>
          <a:ln cap="flat" cmpd="sng" w="9525">
            <a:solidFill>
              <a:srgbClr val="E2E8F0"/>
            </a:solidFill>
            <a:prstDash val="solid"/>
            <a:round/>
            <a:headEnd len="sm" w="sm" type="none"/>
            <a:tailEnd len="sm" w="sm" type="none"/>
          </a:ln>
        </p:spPr>
      </p:pic>
      <p:pic>
        <p:nvPicPr>
          <p:cNvPr id="384" name="Google Shape;384;p44"/>
          <p:cNvPicPr preferRelativeResize="0"/>
          <p:nvPr/>
        </p:nvPicPr>
        <p:blipFill>
          <a:blip r:embed="rId5">
            <a:alphaModFix/>
          </a:blip>
          <a:stretch>
            <a:fillRect/>
          </a:stretch>
        </p:blipFill>
        <p:spPr>
          <a:xfrm>
            <a:off x="5003750" y="3710600"/>
            <a:ext cx="3520700" cy="1313742"/>
          </a:xfrm>
          <a:prstGeom prst="rect">
            <a:avLst/>
          </a:prstGeom>
          <a:solidFill>
            <a:srgbClr val="FFFFFF"/>
          </a:solidFill>
          <a:ln cap="flat" cmpd="sng" w="9525">
            <a:solidFill>
              <a:srgbClr val="E2E8F0"/>
            </a:solidFill>
            <a:prstDash val="solid"/>
            <a:round/>
            <a:headEnd len="sm" w="sm" type="none"/>
            <a:tailEnd len="sm" w="sm" type="none"/>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45"/>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Funciones plpgsql</a:t>
            </a:r>
            <a:r>
              <a:rPr b="1" lang="es-419" sz="2700">
                <a:solidFill>
                  <a:schemeClr val="lt1"/>
                </a:solidFill>
                <a:latin typeface="Calibri"/>
                <a:ea typeface="Calibri"/>
                <a:cs typeface="Calibri"/>
                <a:sym typeface="Calibri"/>
              </a:rPr>
              <a:t> - Ejemplo: fun_facturar</a:t>
            </a:r>
            <a:endParaRPr b="0" i="0" sz="1100" u="none" cap="none" strike="noStrike">
              <a:solidFill>
                <a:srgbClr val="000000"/>
              </a:solidFill>
              <a:latin typeface="Arial"/>
              <a:ea typeface="Arial"/>
              <a:cs typeface="Arial"/>
              <a:sym typeface="Arial"/>
            </a:endParaRPr>
          </a:p>
        </p:txBody>
      </p:sp>
      <p:pic>
        <p:nvPicPr>
          <p:cNvPr id="391" name="Google Shape;391;p45"/>
          <p:cNvPicPr preferRelativeResize="0"/>
          <p:nvPr/>
        </p:nvPicPr>
        <p:blipFill>
          <a:blip r:embed="rId3">
            <a:alphaModFix/>
          </a:blip>
          <a:stretch>
            <a:fillRect/>
          </a:stretch>
        </p:blipFill>
        <p:spPr>
          <a:xfrm>
            <a:off x="222875" y="1254875"/>
            <a:ext cx="4554376" cy="3498500"/>
          </a:xfrm>
          <a:prstGeom prst="rect">
            <a:avLst/>
          </a:prstGeom>
          <a:solidFill>
            <a:srgbClr val="FFFFFF"/>
          </a:solidFill>
          <a:ln cap="flat" cmpd="sng" w="9525">
            <a:solidFill>
              <a:srgbClr val="E2E8F0"/>
            </a:solidFill>
            <a:prstDash val="solid"/>
            <a:round/>
            <a:headEnd len="sm" w="sm" type="none"/>
            <a:tailEnd len="sm" w="sm" type="none"/>
          </a:ln>
        </p:spPr>
      </p:pic>
      <p:pic>
        <p:nvPicPr>
          <p:cNvPr id="392" name="Google Shape;392;p45"/>
          <p:cNvPicPr preferRelativeResize="0"/>
          <p:nvPr/>
        </p:nvPicPr>
        <p:blipFill>
          <a:blip r:embed="rId4">
            <a:alphaModFix/>
          </a:blip>
          <a:stretch>
            <a:fillRect/>
          </a:stretch>
        </p:blipFill>
        <p:spPr>
          <a:xfrm>
            <a:off x="4860425" y="1632200"/>
            <a:ext cx="4142574" cy="2412525"/>
          </a:xfrm>
          <a:prstGeom prst="rect">
            <a:avLst/>
          </a:prstGeom>
          <a:solidFill>
            <a:srgbClr val="FFFFFF"/>
          </a:solidFill>
          <a:ln cap="flat" cmpd="sng" w="9525">
            <a:solidFill>
              <a:srgbClr val="E2E8F0"/>
            </a:solidFill>
            <a:prstDash val="solid"/>
            <a:round/>
            <a:headEnd len="sm" w="sm" type="none"/>
            <a:tailEnd len="sm" w="sm" type="none"/>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46"/>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lang="es-419" sz="2700">
                <a:solidFill>
                  <a:schemeClr val="lt1"/>
                </a:solidFill>
                <a:latin typeface="Calibri"/>
                <a:ea typeface="Calibri"/>
                <a:cs typeface="Calibri"/>
                <a:sym typeface="Calibri"/>
              </a:rPr>
              <a:t>Servicios utilizados - Epayco</a:t>
            </a:r>
            <a:endParaRPr b="0" i="0" sz="1100" u="none" cap="none" strike="noStrike">
              <a:solidFill>
                <a:srgbClr val="000000"/>
              </a:solidFill>
              <a:latin typeface="Arial"/>
              <a:ea typeface="Arial"/>
              <a:cs typeface="Arial"/>
              <a:sym typeface="Arial"/>
            </a:endParaRPr>
          </a:p>
        </p:txBody>
      </p:sp>
      <p:pic>
        <p:nvPicPr>
          <p:cNvPr id="399" name="Google Shape;399;p46"/>
          <p:cNvPicPr preferRelativeResize="0"/>
          <p:nvPr/>
        </p:nvPicPr>
        <p:blipFill>
          <a:blip r:embed="rId3">
            <a:alphaModFix/>
          </a:blip>
          <a:stretch>
            <a:fillRect/>
          </a:stretch>
        </p:blipFill>
        <p:spPr>
          <a:xfrm>
            <a:off x="566563" y="1367450"/>
            <a:ext cx="8010874" cy="36009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04" name="Shape 404"/>
        <p:cNvGrpSpPr/>
        <p:nvPr/>
      </p:nvGrpSpPr>
      <p:grpSpPr>
        <a:xfrm>
          <a:off x="0" y="0"/>
          <a:ext cx="0" cy="0"/>
          <a:chOff x="0" y="0"/>
          <a:chExt cx="0" cy="0"/>
        </a:xfrm>
      </p:grpSpPr>
      <p:sp>
        <p:nvSpPr>
          <p:cNvPr id="405" name="Google Shape;405;p47"/>
          <p:cNvSpPr txBox="1"/>
          <p:nvPr/>
        </p:nvSpPr>
        <p:spPr>
          <a:xfrm>
            <a:off x="419100" y="285750"/>
            <a:ext cx="7620000" cy="4926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s-419" sz="3200">
                <a:solidFill>
                  <a:srgbClr val="FFFFFF"/>
                </a:solidFill>
                <a:latin typeface="Calibri"/>
                <a:ea typeface="Calibri"/>
                <a:cs typeface="Calibri"/>
                <a:sym typeface="Calibri"/>
              </a:rPr>
              <a:t>Servicios utilizados: Epayco Integration</a:t>
            </a:r>
            <a:endParaRPr b="1" sz="3200">
              <a:solidFill>
                <a:srgbClr val="FFFFFF"/>
              </a:solidFill>
              <a:latin typeface="Calibri"/>
              <a:ea typeface="Calibri"/>
              <a:cs typeface="Calibri"/>
              <a:sym typeface="Calibri"/>
            </a:endParaRPr>
          </a:p>
        </p:txBody>
      </p:sp>
      <p:grpSp>
        <p:nvGrpSpPr>
          <p:cNvPr id="406" name="Google Shape;406;p47"/>
          <p:cNvGrpSpPr/>
          <p:nvPr/>
        </p:nvGrpSpPr>
        <p:grpSpPr>
          <a:xfrm>
            <a:off x="492792" y="1823264"/>
            <a:ext cx="3155594" cy="3247415"/>
            <a:chOff x="3286201" y="1123465"/>
            <a:chExt cx="2667000" cy="3619500"/>
          </a:xfrm>
        </p:grpSpPr>
        <p:sp>
          <p:nvSpPr>
            <p:cNvPr id="407" name="Google Shape;407;p47"/>
            <p:cNvSpPr/>
            <p:nvPr/>
          </p:nvSpPr>
          <p:spPr>
            <a:xfrm>
              <a:off x="3286201" y="1123465"/>
              <a:ext cx="2667000" cy="3619500"/>
            </a:xfrm>
            <a:prstGeom prst="roundRect">
              <a:avLst>
                <a:gd fmla="val 4285" name="adj"/>
              </a:avLst>
            </a:prstGeom>
            <a:solidFill>
              <a:srgbClr val="2D2D2D"/>
            </a:solidFill>
            <a:ln cap="flat" cmpd="sng" w="10225">
              <a:solidFill>
                <a:srgbClr val="3E3E3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sz="1420"/>
            </a:p>
          </p:txBody>
        </p:sp>
        <p:sp>
          <p:nvSpPr>
            <p:cNvPr id="408" name="Google Shape;408;p47"/>
            <p:cNvSpPr txBox="1"/>
            <p:nvPr/>
          </p:nvSpPr>
          <p:spPr>
            <a:xfrm>
              <a:off x="3333750" y="1273302"/>
              <a:ext cx="24765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s-419" sz="2574">
                  <a:solidFill>
                    <a:srgbClr val="3B82F6"/>
                  </a:solidFill>
                  <a:latin typeface="Material Icons"/>
                  <a:ea typeface="Material Icons"/>
                  <a:cs typeface="Material Icons"/>
                  <a:sym typeface="Material Icons"/>
                </a:rPr>
                <a:t>settings</a:t>
              </a:r>
              <a:endParaRPr sz="2574">
                <a:solidFill>
                  <a:srgbClr val="3B82F6"/>
                </a:solidFill>
                <a:latin typeface="Material Icons"/>
                <a:ea typeface="Material Icons"/>
                <a:cs typeface="Material Icons"/>
                <a:sym typeface="Material Icons"/>
              </a:endParaRPr>
            </a:p>
          </p:txBody>
        </p:sp>
        <p:sp>
          <p:nvSpPr>
            <p:cNvPr id="409" name="Google Shape;409;p47"/>
            <p:cNvSpPr txBox="1"/>
            <p:nvPr/>
          </p:nvSpPr>
          <p:spPr>
            <a:xfrm>
              <a:off x="3333750" y="1619250"/>
              <a:ext cx="24765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s-419" sz="1501">
                  <a:solidFill>
                    <a:srgbClr val="FFFFFF"/>
                  </a:solidFill>
                  <a:latin typeface="Calibri"/>
                  <a:ea typeface="Calibri"/>
                  <a:cs typeface="Calibri"/>
                  <a:sym typeface="Calibri"/>
                </a:rPr>
                <a:t>2. Request Configuration</a:t>
              </a:r>
              <a:endParaRPr b="1" sz="1501">
                <a:solidFill>
                  <a:srgbClr val="FFFFFF"/>
                </a:solidFill>
                <a:latin typeface="Calibri"/>
                <a:ea typeface="Calibri"/>
                <a:cs typeface="Calibri"/>
                <a:sym typeface="Calibri"/>
              </a:endParaRPr>
            </a:p>
          </p:txBody>
        </p:sp>
        <p:pic>
          <p:nvPicPr>
            <p:cNvPr id="410" name="Google Shape;410;p47"/>
            <p:cNvPicPr preferRelativeResize="0"/>
            <p:nvPr/>
          </p:nvPicPr>
          <p:blipFill rotWithShape="1">
            <a:blip r:embed="rId4">
              <a:alphaModFix/>
            </a:blip>
            <a:srcRect b="0" l="9198" r="9190" t="0"/>
            <a:stretch/>
          </p:blipFill>
          <p:spPr>
            <a:xfrm>
              <a:off x="3333749" y="2129515"/>
              <a:ext cx="2571900" cy="2085000"/>
            </a:xfrm>
            <a:prstGeom prst="roundRect">
              <a:avLst>
                <a:gd fmla="val 2666" name="adj"/>
              </a:avLst>
            </a:prstGeom>
            <a:noFill/>
            <a:ln>
              <a:noFill/>
            </a:ln>
          </p:spPr>
        </p:pic>
      </p:grpSp>
      <p:grpSp>
        <p:nvGrpSpPr>
          <p:cNvPr id="411" name="Google Shape;411;p47"/>
          <p:cNvGrpSpPr/>
          <p:nvPr/>
        </p:nvGrpSpPr>
        <p:grpSpPr>
          <a:xfrm>
            <a:off x="4959974" y="1846250"/>
            <a:ext cx="3527744" cy="3201448"/>
            <a:chOff x="6153150" y="1081129"/>
            <a:chExt cx="2822421" cy="3619500"/>
          </a:xfrm>
        </p:grpSpPr>
        <p:sp>
          <p:nvSpPr>
            <p:cNvPr id="412" name="Google Shape;412;p47"/>
            <p:cNvSpPr/>
            <p:nvPr/>
          </p:nvSpPr>
          <p:spPr>
            <a:xfrm>
              <a:off x="6153171" y="1081129"/>
              <a:ext cx="2822400" cy="3619500"/>
            </a:xfrm>
            <a:prstGeom prst="roundRect">
              <a:avLst>
                <a:gd fmla="val 4285" name="adj"/>
              </a:avLst>
            </a:prstGeom>
            <a:solidFill>
              <a:srgbClr val="2D2D2D"/>
            </a:solidFill>
            <a:ln cap="flat" cmpd="sng" w="11900">
              <a:solidFill>
                <a:srgbClr val="3E3E3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13" name="Google Shape;413;p47"/>
            <p:cNvSpPr txBox="1"/>
            <p:nvPr/>
          </p:nvSpPr>
          <p:spPr>
            <a:xfrm>
              <a:off x="6185013" y="1291307"/>
              <a:ext cx="24765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s-419" sz="3000">
                  <a:solidFill>
                    <a:srgbClr val="F59E0B"/>
                  </a:solidFill>
                  <a:latin typeface="Material Icons"/>
                  <a:ea typeface="Material Icons"/>
                  <a:cs typeface="Material Icons"/>
                  <a:sym typeface="Material Icons"/>
                </a:rPr>
                <a:t>verified_user</a:t>
              </a:r>
              <a:endParaRPr sz="3000">
                <a:solidFill>
                  <a:srgbClr val="F59E0B"/>
                </a:solidFill>
                <a:latin typeface="Material Icons"/>
                <a:ea typeface="Material Icons"/>
                <a:cs typeface="Material Icons"/>
                <a:sym typeface="Material Icons"/>
              </a:endParaRPr>
            </a:p>
          </p:txBody>
        </p:sp>
        <p:sp>
          <p:nvSpPr>
            <p:cNvPr id="414" name="Google Shape;414;p47"/>
            <p:cNvSpPr txBox="1"/>
            <p:nvPr/>
          </p:nvSpPr>
          <p:spPr>
            <a:xfrm>
              <a:off x="6153150" y="1619250"/>
              <a:ext cx="24765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s-419" sz="1750">
                  <a:solidFill>
                    <a:srgbClr val="FFFFFF"/>
                  </a:solidFill>
                  <a:latin typeface="Calibri"/>
                  <a:ea typeface="Calibri"/>
                  <a:cs typeface="Calibri"/>
                  <a:sym typeface="Calibri"/>
                </a:rPr>
                <a:t>3. Response Validation</a:t>
              </a:r>
              <a:endParaRPr b="1" sz="1750">
                <a:solidFill>
                  <a:srgbClr val="FFFFFF"/>
                </a:solidFill>
                <a:latin typeface="Calibri"/>
                <a:ea typeface="Calibri"/>
                <a:cs typeface="Calibri"/>
                <a:sym typeface="Calibri"/>
              </a:endParaRPr>
            </a:p>
          </p:txBody>
        </p:sp>
        <p:pic>
          <p:nvPicPr>
            <p:cNvPr id="415" name="Google Shape;415;p47"/>
            <p:cNvPicPr preferRelativeResize="0"/>
            <p:nvPr/>
          </p:nvPicPr>
          <p:blipFill rotWithShape="1">
            <a:blip r:embed="rId5">
              <a:alphaModFix/>
            </a:blip>
            <a:srcRect b="-2817" l="1810" r="-1810" t="0"/>
            <a:stretch/>
          </p:blipFill>
          <p:spPr>
            <a:xfrm>
              <a:off x="6191354" y="1976692"/>
              <a:ext cx="2777700" cy="2354100"/>
            </a:xfrm>
            <a:prstGeom prst="roundRect">
              <a:avLst>
                <a:gd fmla="val 2666" name="adj"/>
              </a:avLst>
            </a:prstGeom>
            <a:noFill/>
            <a:ln>
              <a:noFill/>
            </a:ln>
          </p:spPr>
        </p:pic>
      </p:grpSp>
      <p:grpSp>
        <p:nvGrpSpPr>
          <p:cNvPr id="416" name="Google Shape;416;p47"/>
          <p:cNvGrpSpPr/>
          <p:nvPr/>
        </p:nvGrpSpPr>
        <p:grpSpPr>
          <a:xfrm>
            <a:off x="1600369" y="1102729"/>
            <a:ext cx="5549426" cy="799268"/>
            <a:chOff x="-628278" y="1143005"/>
            <a:chExt cx="4957500" cy="1734900"/>
          </a:xfrm>
        </p:grpSpPr>
        <p:sp>
          <p:nvSpPr>
            <p:cNvPr id="417" name="Google Shape;417;p47"/>
            <p:cNvSpPr/>
            <p:nvPr/>
          </p:nvSpPr>
          <p:spPr>
            <a:xfrm>
              <a:off x="-628278" y="1143005"/>
              <a:ext cx="4957500" cy="1734900"/>
            </a:xfrm>
            <a:prstGeom prst="roundRect">
              <a:avLst>
                <a:gd fmla="val 4285" name="adj"/>
              </a:avLst>
            </a:prstGeom>
            <a:solidFill>
              <a:srgbClr val="2D2D2D"/>
            </a:solidFill>
            <a:ln cap="flat" cmpd="sng" w="10650">
              <a:solidFill>
                <a:srgbClr val="3E3E3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sz="1374"/>
            </a:p>
          </p:txBody>
        </p:sp>
        <p:sp>
          <p:nvSpPr>
            <p:cNvPr id="418" name="Google Shape;418;p47"/>
            <p:cNvSpPr txBox="1"/>
            <p:nvPr/>
          </p:nvSpPr>
          <p:spPr>
            <a:xfrm>
              <a:off x="514350" y="1273302"/>
              <a:ext cx="24765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s-419" sz="2687">
                  <a:solidFill>
                    <a:srgbClr val="22C55E"/>
                  </a:solidFill>
                  <a:latin typeface="Material Icons"/>
                  <a:ea typeface="Material Icons"/>
                  <a:cs typeface="Material Icons"/>
                  <a:sym typeface="Material Icons"/>
                </a:rPr>
                <a:t>integration_instructions</a:t>
              </a:r>
              <a:endParaRPr sz="2687">
                <a:solidFill>
                  <a:srgbClr val="22C55E"/>
                </a:solidFill>
                <a:latin typeface="Material Icons"/>
                <a:ea typeface="Material Icons"/>
                <a:cs typeface="Material Icons"/>
                <a:sym typeface="Material Icons"/>
              </a:endParaRPr>
            </a:p>
          </p:txBody>
        </p:sp>
        <p:sp>
          <p:nvSpPr>
            <p:cNvPr id="419" name="Google Shape;419;p47"/>
            <p:cNvSpPr txBox="1"/>
            <p:nvPr/>
          </p:nvSpPr>
          <p:spPr>
            <a:xfrm>
              <a:off x="514350" y="1619250"/>
              <a:ext cx="2476500" cy="2859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s-419" sz="1367">
                  <a:solidFill>
                    <a:srgbClr val="FFFFFF"/>
                  </a:solidFill>
                  <a:latin typeface="Calibri"/>
                  <a:ea typeface="Calibri"/>
                  <a:cs typeface="Calibri"/>
                  <a:sym typeface="Calibri"/>
                </a:rPr>
                <a:t>1. SDK Initialization</a:t>
              </a:r>
              <a:endParaRPr b="1" sz="1367">
                <a:solidFill>
                  <a:srgbClr val="FFFFFF"/>
                </a:solidFill>
                <a:latin typeface="Calibri"/>
                <a:ea typeface="Calibri"/>
                <a:cs typeface="Calibri"/>
                <a:sym typeface="Calibri"/>
              </a:endParaRPr>
            </a:p>
          </p:txBody>
        </p:sp>
        <p:pic>
          <p:nvPicPr>
            <p:cNvPr id="420" name="Google Shape;420;p47"/>
            <p:cNvPicPr preferRelativeResize="0"/>
            <p:nvPr/>
          </p:nvPicPr>
          <p:blipFill rotWithShape="1">
            <a:blip r:embed="rId6">
              <a:alphaModFix/>
            </a:blip>
            <a:srcRect b="0" l="0" r="1478" t="14508"/>
            <a:stretch/>
          </p:blipFill>
          <p:spPr>
            <a:xfrm>
              <a:off x="-570815" y="1901208"/>
              <a:ext cx="4743300" cy="674100"/>
            </a:xfrm>
            <a:prstGeom prst="roundRect">
              <a:avLst>
                <a:gd fmla="val 10000" name="adj"/>
              </a:avLst>
            </a:prstGeom>
            <a:noFill/>
            <a:ln>
              <a:noFill/>
            </a:ln>
          </p:spPr>
        </p:pic>
      </p:gr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48"/>
          <p:cNvSpPr txBox="1"/>
          <p:nvPr/>
        </p:nvSpPr>
        <p:spPr>
          <a:xfrm>
            <a:off x="419100" y="285750"/>
            <a:ext cx="7620000" cy="4926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s-419" sz="3200">
                <a:solidFill>
                  <a:srgbClr val="FFFFFF"/>
                </a:solidFill>
                <a:latin typeface="Calibri"/>
                <a:ea typeface="Calibri"/>
                <a:cs typeface="Calibri"/>
                <a:sym typeface="Calibri"/>
              </a:rPr>
              <a:t>Servicios utilizados: PuntoEnvio</a:t>
            </a:r>
            <a:endParaRPr b="1" sz="3200">
              <a:solidFill>
                <a:srgbClr val="FFFFFF"/>
              </a:solidFill>
              <a:latin typeface="Calibri"/>
              <a:ea typeface="Calibri"/>
              <a:cs typeface="Calibri"/>
              <a:sym typeface="Calibri"/>
            </a:endParaRPr>
          </a:p>
        </p:txBody>
      </p:sp>
      <p:grpSp>
        <p:nvGrpSpPr>
          <p:cNvPr id="427" name="Google Shape;427;p48"/>
          <p:cNvGrpSpPr/>
          <p:nvPr/>
        </p:nvGrpSpPr>
        <p:grpSpPr>
          <a:xfrm>
            <a:off x="-1048825" y="1125733"/>
            <a:ext cx="9907979" cy="3938266"/>
            <a:chOff x="-667782" y="1047744"/>
            <a:chExt cx="9430782" cy="3656700"/>
          </a:xfrm>
        </p:grpSpPr>
        <p:sp>
          <p:nvSpPr>
            <p:cNvPr id="428" name="Google Shape;428;p48"/>
            <p:cNvSpPr/>
            <p:nvPr/>
          </p:nvSpPr>
          <p:spPr>
            <a:xfrm>
              <a:off x="381000" y="1047744"/>
              <a:ext cx="8382000" cy="3656700"/>
            </a:xfrm>
            <a:prstGeom prst="roundRect">
              <a:avLst>
                <a:gd fmla="val 3947" name="adj"/>
              </a:avLst>
            </a:prstGeom>
            <a:solidFill>
              <a:srgbClr val="2D2D2D"/>
            </a:solidFill>
            <a:ln cap="flat" cmpd="sng" w="9525">
              <a:solidFill>
                <a:srgbClr val="3E3E3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29" name="Google Shape;429;p48"/>
            <p:cNvSpPr txBox="1"/>
            <p:nvPr/>
          </p:nvSpPr>
          <p:spPr>
            <a:xfrm>
              <a:off x="-667782" y="1289276"/>
              <a:ext cx="51723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s-419" sz="3700">
                  <a:solidFill>
                    <a:srgbClr val="22C55E"/>
                  </a:solidFill>
                  <a:latin typeface="Material Icons"/>
                  <a:ea typeface="Material Icons"/>
                  <a:cs typeface="Material Icons"/>
                  <a:sym typeface="Material Icons"/>
                </a:rPr>
                <a:t>local_shipping</a:t>
              </a:r>
              <a:endParaRPr sz="3700">
                <a:solidFill>
                  <a:srgbClr val="22C55E"/>
                </a:solidFill>
                <a:latin typeface="Material Icons"/>
                <a:ea typeface="Material Icons"/>
                <a:cs typeface="Material Icons"/>
                <a:sym typeface="Material Icons"/>
              </a:endParaRPr>
            </a:p>
          </p:txBody>
        </p:sp>
        <p:pic>
          <p:nvPicPr>
            <p:cNvPr id="430" name="Google Shape;430;p48"/>
            <p:cNvPicPr preferRelativeResize="0"/>
            <p:nvPr/>
          </p:nvPicPr>
          <p:blipFill rotWithShape="1">
            <a:blip r:embed="rId3">
              <a:alphaModFix/>
            </a:blip>
            <a:srcRect b="13234" l="0" r="0" t="1826"/>
            <a:stretch/>
          </p:blipFill>
          <p:spPr>
            <a:xfrm>
              <a:off x="1154082" y="1649401"/>
              <a:ext cx="6667500" cy="2929200"/>
            </a:xfrm>
            <a:prstGeom prst="roundRect">
              <a:avLst>
                <a:gd fmla="val 4000" name="adj"/>
              </a:avLst>
            </a:prstGeom>
            <a:noFill/>
            <a:ln>
              <a:noFill/>
            </a:ln>
          </p:spPr>
        </p:pic>
        <p:sp>
          <p:nvSpPr>
            <p:cNvPr id="431" name="Google Shape;431;p48"/>
            <p:cNvSpPr txBox="1"/>
            <p:nvPr/>
          </p:nvSpPr>
          <p:spPr>
            <a:xfrm>
              <a:off x="2093879" y="1131998"/>
              <a:ext cx="5022600" cy="4896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s-419" sz="1600">
                  <a:solidFill>
                    <a:srgbClr val="FFFFFF"/>
                  </a:solidFill>
                  <a:latin typeface="Calibri"/>
                  <a:ea typeface="Calibri"/>
                  <a:cs typeface="Calibri"/>
                  <a:sym typeface="Calibri"/>
                </a:rPr>
                <a:t>API de Gestión de Paquetería http://135.119.114.214/puntoEnvio/envios</a:t>
              </a:r>
              <a:endParaRPr b="1" sz="1500">
                <a:solidFill>
                  <a:srgbClr val="FFFFFF"/>
                </a:solidFill>
                <a:latin typeface="Calibri"/>
                <a:ea typeface="Calibri"/>
                <a:cs typeface="Calibri"/>
                <a:sym typeface="Calibri"/>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49"/>
          <p:cNvSpPr txBox="1"/>
          <p:nvPr/>
        </p:nvSpPr>
        <p:spPr>
          <a:xfrm>
            <a:off x="419100" y="285750"/>
            <a:ext cx="7620000" cy="4926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l">
              <a:spcBef>
                <a:spcPts val="0"/>
              </a:spcBef>
              <a:spcAft>
                <a:spcPts val="0"/>
              </a:spcAft>
              <a:buNone/>
            </a:pPr>
            <a:r>
              <a:rPr b="1" lang="es-419" sz="3200">
                <a:solidFill>
                  <a:srgbClr val="FFFFFF"/>
                </a:solidFill>
                <a:latin typeface="Calibri"/>
                <a:ea typeface="Calibri"/>
                <a:cs typeface="Calibri"/>
                <a:sym typeface="Calibri"/>
              </a:rPr>
              <a:t>Servicios utilizados: PuntoEnvio</a:t>
            </a:r>
            <a:endParaRPr b="1" sz="3200">
              <a:solidFill>
                <a:srgbClr val="FFFFFF"/>
              </a:solidFill>
              <a:latin typeface="Calibri"/>
              <a:ea typeface="Calibri"/>
              <a:cs typeface="Calibri"/>
              <a:sym typeface="Calibri"/>
            </a:endParaRPr>
          </a:p>
        </p:txBody>
      </p:sp>
      <p:grpSp>
        <p:nvGrpSpPr>
          <p:cNvPr id="438" name="Google Shape;438;p49"/>
          <p:cNvGrpSpPr/>
          <p:nvPr/>
        </p:nvGrpSpPr>
        <p:grpSpPr>
          <a:xfrm>
            <a:off x="419100" y="1143000"/>
            <a:ext cx="8382000" cy="3619500"/>
            <a:chOff x="381000" y="1143000"/>
            <a:chExt cx="8382000" cy="3619500"/>
          </a:xfrm>
        </p:grpSpPr>
        <p:sp>
          <p:nvSpPr>
            <p:cNvPr id="439" name="Google Shape;439;p49"/>
            <p:cNvSpPr/>
            <p:nvPr/>
          </p:nvSpPr>
          <p:spPr>
            <a:xfrm>
              <a:off x="381000" y="1143000"/>
              <a:ext cx="8382000" cy="3619500"/>
            </a:xfrm>
            <a:prstGeom prst="roundRect">
              <a:avLst>
                <a:gd fmla="val 3947" name="adj"/>
              </a:avLst>
            </a:prstGeom>
            <a:solidFill>
              <a:srgbClr val="2D2D2D"/>
            </a:solidFill>
            <a:ln cap="flat" cmpd="sng" w="9525">
              <a:solidFill>
                <a:srgbClr val="3E3E3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nvGrpSpPr>
            <p:cNvPr id="440" name="Google Shape;440;p49"/>
            <p:cNvGrpSpPr/>
            <p:nvPr/>
          </p:nvGrpSpPr>
          <p:grpSpPr>
            <a:xfrm>
              <a:off x="571500" y="1333500"/>
              <a:ext cx="8001000" cy="476400"/>
              <a:chOff x="571500" y="1333500"/>
              <a:chExt cx="8001000" cy="476400"/>
            </a:xfrm>
          </p:grpSpPr>
          <p:sp>
            <p:nvSpPr>
              <p:cNvPr id="441" name="Google Shape;441;p49"/>
              <p:cNvSpPr/>
              <p:nvPr/>
            </p:nvSpPr>
            <p:spPr>
              <a:xfrm>
                <a:off x="571500" y="1333500"/>
                <a:ext cx="8001000" cy="476400"/>
              </a:xfrm>
              <a:prstGeom prst="roundRect">
                <a:avLst>
                  <a:gd fmla="val 16000" name="adj"/>
                </a:avLst>
              </a:prstGeom>
              <a:solidFill>
                <a:srgbClr val="1E293B"/>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442" name="Google Shape;442;p49"/>
              <p:cNvSpPr txBox="1"/>
              <p:nvPr/>
            </p:nvSpPr>
            <p:spPr>
              <a:xfrm>
                <a:off x="571500" y="1333500"/>
                <a:ext cx="8001000" cy="476400"/>
              </a:xfrm>
              <a:prstGeom prst="rect">
                <a:avLst/>
              </a:prstGeom>
              <a:noFill/>
              <a:ln>
                <a:noFill/>
              </a:ln>
            </p:spPr>
            <p:txBody>
              <a:bodyPr anchorCtr="0" anchor="ctr" bIns="0" lIns="190500" spcFirstLastPara="1" rIns="0" wrap="square" tIns="0">
                <a:noAutofit/>
              </a:bodyPr>
              <a:lstStyle/>
              <a:p>
                <a:pPr indent="0" lvl="0" marL="0" rtl="0" algn="l">
                  <a:spcBef>
                    <a:spcPts val="0"/>
                  </a:spcBef>
                  <a:spcAft>
                    <a:spcPts val="0"/>
                  </a:spcAft>
                  <a:buNone/>
                </a:pPr>
                <a:r>
                  <a:rPr lang="es-419" sz="1400">
                    <a:solidFill>
                      <a:schemeClr val="lt1"/>
                    </a:solidFill>
                    <a:latin typeface="Calibri"/>
                    <a:ea typeface="Calibri"/>
                    <a:cs typeface="Calibri"/>
                    <a:sym typeface="Calibri"/>
                  </a:rPr>
                  <a:t>Documentación de la API: </a:t>
                </a:r>
                <a:r>
                  <a:rPr lang="es-419" sz="1400" u="sng">
                    <a:solidFill>
                      <a:schemeClr val="lt1"/>
                    </a:solidFill>
                    <a:latin typeface="Calibri"/>
                    <a:ea typeface="Calibri"/>
                    <a:cs typeface="Calibri"/>
                    <a:sym typeface="Calibri"/>
                  </a:rPr>
                  <a:t>http://135.119.114.214/puntoEnvio/docs/index.html</a:t>
                </a:r>
                <a:endParaRPr sz="1400">
                  <a:solidFill>
                    <a:schemeClr val="lt1"/>
                  </a:solidFill>
                  <a:latin typeface="Calibri"/>
                  <a:ea typeface="Calibri"/>
                  <a:cs typeface="Calibri"/>
                  <a:sym typeface="Calibri"/>
                </a:endParaRPr>
              </a:p>
            </p:txBody>
          </p:sp>
        </p:grpSp>
        <p:grpSp>
          <p:nvGrpSpPr>
            <p:cNvPr id="443" name="Google Shape;443;p49"/>
            <p:cNvGrpSpPr/>
            <p:nvPr/>
          </p:nvGrpSpPr>
          <p:grpSpPr>
            <a:xfrm>
              <a:off x="571500" y="2000250"/>
              <a:ext cx="3905400" cy="2190900"/>
              <a:chOff x="571500" y="2000250"/>
              <a:chExt cx="3905400" cy="2190900"/>
            </a:xfrm>
          </p:grpSpPr>
          <p:sp>
            <p:nvSpPr>
              <p:cNvPr id="444" name="Google Shape;444;p49"/>
              <p:cNvSpPr/>
              <p:nvPr/>
            </p:nvSpPr>
            <p:spPr>
              <a:xfrm>
                <a:off x="571500" y="2000250"/>
                <a:ext cx="3905400" cy="2190900"/>
              </a:xfrm>
              <a:prstGeom prst="roundRect">
                <a:avLst>
                  <a:gd fmla="val 4347" name="adj"/>
                </a:avLst>
              </a:prstGeom>
              <a:solidFill>
                <a:srgbClr val="1A1A1A"/>
              </a:solidFill>
              <a:ln cap="flat" cmpd="sng" w="9525">
                <a:solidFill>
                  <a:srgbClr val="3E3E3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445" name="Google Shape;445;p49"/>
              <p:cNvPicPr preferRelativeResize="0"/>
              <p:nvPr/>
            </p:nvPicPr>
            <p:blipFill rotWithShape="1">
              <a:blip r:embed="rId3">
                <a:alphaModFix/>
              </a:blip>
              <a:srcRect b="0" l="2634" r="2634" t="0"/>
              <a:stretch/>
            </p:blipFill>
            <p:spPr>
              <a:xfrm>
                <a:off x="619200" y="2323400"/>
                <a:ext cx="3810000" cy="1608600"/>
              </a:xfrm>
              <a:prstGeom prst="roundRect">
                <a:avLst>
                  <a:gd fmla="val 2631" name="adj"/>
                </a:avLst>
              </a:prstGeom>
              <a:noFill/>
              <a:ln>
                <a:noFill/>
              </a:ln>
            </p:spPr>
          </p:pic>
          <p:sp>
            <p:nvSpPr>
              <p:cNvPr id="446" name="Google Shape;446;p49"/>
              <p:cNvSpPr txBox="1"/>
              <p:nvPr/>
            </p:nvSpPr>
            <p:spPr>
              <a:xfrm>
                <a:off x="571500" y="2000250"/>
                <a:ext cx="3905400" cy="285900"/>
              </a:xfrm>
              <a:prstGeom prst="rect">
                <a:avLst/>
              </a:prstGeom>
              <a:noFill/>
              <a:ln>
                <a:noFill/>
              </a:ln>
            </p:spPr>
            <p:txBody>
              <a:bodyPr anchorCtr="0" anchor="ctr" bIns="0" lIns="95250" spcFirstLastPara="1" rIns="0" wrap="square" tIns="0">
                <a:noAutofit/>
              </a:bodyPr>
              <a:lstStyle/>
              <a:p>
                <a:pPr indent="0" lvl="0" marL="0" rtl="0" algn="l">
                  <a:spcBef>
                    <a:spcPts val="0"/>
                  </a:spcBef>
                  <a:spcAft>
                    <a:spcPts val="0"/>
                  </a:spcAft>
                  <a:buNone/>
                </a:pPr>
                <a:r>
                  <a:rPr b="1" lang="es-419" sz="1100">
                    <a:solidFill>
                      <a:srgbClr val="22C55E"/>
                    </a:solidFill>
                    <a:latin typeface="Calibri"/>
                    <a:ea typeface="Calibri"/>
                    <a:cs typeface="Calibri"/>
                    <a:sym typeface="Calibri"/>
                  </a:rPr>
                  <a:t>1. Estructura del Package</a:t>
                </a:r>
                <a:endParaRPr b="1" sz="1100">
                  <a:solidFill>
                    <a:srgbClr val="22C55E"/>
                  </a:solidFill>
                  <a:latin typeface="Calibri"/>
                  <a:ea typeface="Calibri"/>
                  <a:cs typeface="Calibri"/>
                  <a:sym typeface="Calibri"/>
                </a:endParaRPr>
              </a:p>
            </p:txBody>
          </p:sp>
        </p:grpSp>
        <p:grpSp>
          <p:nvGrpSpPr>
            <p:cNvPr id="447" name="Google Shape;447;p49"/>
            <p:cNvGrpSpPr/>
            <p:nvPr/>
          </p:nvGrpSpPr>
          <p:grpSpPr>
            <a:xfrm>
              <a:off x="4667250" y="2000250"/>
              <a:ext cx="3989700" cy="2190900"/>
              <a:chOff x="4667250" y="2000250"/>
              <a:chExt cx="3989700" cy="2190900"/>
            </a:xfrm>
          </p:grpSpPr>
          <p:sp>
            <p:nvSpPr>
              <p:cNvPr id="448" name="Google Shape;448;p49"/>
              <p:cNvSpPr/>
              <p:nvPr/>
            </p:nvSpPr>
            <p:spPr>
              <a:xfrm>
                <a:off x="4667250" y="2000250"/>
                <a:ext cx="3989700" cy="2190900"/>
              </a:xfrm>
              <a:prstGeom prst="roundRect">
                <a:avLst>
                  <a:gd fmla="val 4347" name="adj"/>
                </a:avLst>
              </a:prstGeom>
              <a:solidFill>
                <a:srgbClr val="1A1A1A"/>
              </a:solidFill>
              <a:ln cap="flat" cmpd="sng" w="9525">
                <a:solidFill>
                  <a:srgbClr val="3E3E3E"/>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pic>
            <p:nvPicPr>
              <p:cNvPr id="449" name="Google Shape;449;p49"/>
              <p:cNvPicPr preferRelativeResize="0"/>
              <p:nvPr/>
            </p:nvPicPr>
            <p:blipFill rotWithShape="1">
              <a:blip r:embed="rId4">
                <a:alphaModFix/>
              </a:blip>
              <a:srcRect b="0" l="0" r="12503" t="0"/>
              <a:stretch/>
            </p:blipFill>
            <p:spPr>
              <a:xfrm>
                <a:off x="4697300" y="2365050"/>
                <a:ext cx="3905400" cy="1541700"/>
              </a:xfrm>
              <a:prstGeom prst="roundRect">
                <a:avLst>
                  <a:gd fmla="val 2631" name="adj"/>
                </a:avLst>
              </a:prstGeom>
              <a:noFill/>
              <a:ln>
                <a:noFill/>
              </a:ln>
            </p:spPr>
          </p:pic>
          <p:sp>
            <p:nvSpPr>
              <p:cNvPr id="450" name="Google Shape;450;p49"/>
              <p:cNvSpPr txBox="1"/>
              <p:nvPr/>
            </p:nvSpPr>
            <p:spPr>
              <a:xfrm>
                <a:off x="4667250" y="2000250"/>
                <a:ext cx="3905400" cy="285900"/>
              </a:xfrm>
              <a:prstGeom prst="rect">
                <a:avLst/>
              </a:prstGeom>
              <a:noFill/>
              <a:ln>
                <a:noFill/>
              </a:ln>
            </p:spPr>
            <p:txBody>
              <a:bodyPr anchorCtr="0" anchor="ctr" bIns="0" lIns="95250" spcFirstLastPara="1" rIns="0" wrap="square" tIns="0">
                <a:noAutofit/>
              </a:bodyPr>
              <a:lstStyle/>
              <a:p>
                <a:pPr indent="0" lvl="0" marL="0" rtl="0" algn="l">
                  <a:spcBef>
                    <a:spcPts val="0"/>
                  </a:spcBef>
                  <a:spcAft>
                    <a:spcPts val="0"/>
                  </a:spcAft>
                  <a:buNone/>
                </a:pPr>
                <a:r>
                  <a:rPr b="1" lang="es-419" sz="1100">
                    <a:solidFill>
                      <a:srgbClr val="22C55E"/>
                    </a:solidFill>
                    <a:latin typeface="Calibri"/>
                    <a:ea typeface="Calibri"/>
                    <a:cs typeface="Calibri"/>
                    <a:sym typeface="Calibri"/>
                  </a:rPr>
                  <a:t>2. Implementación del Request</a:t>
                </a:r>
                <a:endParaRPr b="1" sz="1100">
                  <a:solidFill>
                    <a:srgbClr val="22C55E"/>
                  </a:solidFill>
                  <a:latin typeface="Calibri"/>
                  <a:ea typeface="Calibri"/>
                  <a:cs typeface="Calibri"/>
                  <a:sym typeface="Calibri"/>
                </a:endParaRPr>
              </a:p>
            </p:txBody>
          </p:sp>
        </p:grpSp>
        <p:sp>
          <p:nvSpPr>
            <p:cNvPr id="451" name="Google Shape;451;p49"/>
            <p:cNvSpPr txBox="1"/>
            <p:nvPr/>
          </p:nvSpPr>
          <p:spPr>
            <a:xfrm>
              <a:off x="4191000" y="4321302"/>
              <a:ext cx="7620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s-419" sz="2400">
                  <a:solidFill>
                    <a:srgbClr val="22C55E"/>
                  </a:solidFill>
                  <a:latin typeface="Material Icons"/>
                  <a:ea typeface="Material Icons"/>
                  <a:cs typeface="Material Icons"/>
                  <a:sym typeface="Material Icons"/>
                </a:rPr>
                <a:t>api</a:t>
              </a:r>
              <a:endParaRPr sz="2400">
                <a:solidFill>
                  <a:srgbClr val="22C55E"/>
                </a:solidFill>
                <a:latin typeface="Material Icons"/>
                <a:ea typeface="Material Icons"/>
                <a:cs typeface="Material Icons"/>
                <a:sym typeface="Material Icons"/>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6" name="Shape 456"/>
        <p:cNvGrpSpPr/>
        <p:nvPr/>
      </p:nvGrpSpPr>
      <p:grpSpPr>
        <a:xfrm>
          <a:off x="0" y="0"/>
          <a:ext cx="0" cy="0"/>
          <a:chOff x="0" y="0"/>
          <a:chExt cx="0" cy="0"/>
        </a:xfrm>
      </p:grpSpPr>
      <p:sp>
        <p:nvSpPr>
          <p:cNvPr id="457" name="Google Shape;457;p50"/>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REDIS</a:t>
            </a:r>
            <a:endParaRPr b="0" i="0" sz="1100" u="none" cap="none" strike="noStrike">
              <a:solidFill>
                <a:srgbClr val="000000"/>
              </a:solidFill>
              <a:latin typeface="Arial"/>
              <a:ea typeface="Arial"/>
              <a:cs typeface="Arial"/>
              <a:sym typeface="Arial"/>
            </a:endParaRPr>
          </a:p>
        </p:txBody>
      </p:sp>
      <p:pic>
        <p:nvPicPr>
          <p:cNvPr id="458" name="Google Shape;458;p50"/>
          <p:cNvPicPr preferRelativeResize="0"/>
          <p:nvPr/>
        </p:nvPicPr>
        <p:blipFill rotWithShape="1">
          <a:blip r:embed="rId3">
            <a:alphaModFix/>
          </a:blip>
          <a:srcRect b="0" l="0" r="0" t="0"/>
          <a:stretch/>
        </p:blipFill>
        <p:spPr>
          <a:xfrm>
            <a:off x="1085500" y="1137550"/>
            <a:ext cx="6976399" cy="39263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3" name="Shape 463"/>
        <p:cNvGrpSpPr/>
        <p:nvPr/>
      </p:nvGrpSpPr>
      <p:grpSpPr>
        <a:xfrm>
          <a:off x="0" y="0"/>
          <a:ext cx="0" cy="0"/>
          <a:chOff x="0" y="0"/>
          <a:chExt cx="0" cy="0"/>
        </a:xfrm>
      </p:grpSpPr>
      <p:sp>
        <p:nvSpPr>
          <p:cNvPr id="464" name="Google Shape;464;p51"/>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Patrones Redis - Write-behind</a:t>
            </a:r>
            <a:endParaRPr b="0" i="0" sz="1100" u="none" cap="none" strike="noStrike">
              <a:solidFill>
                <a:srgbClr val="000000"/>
              </a:solidFill>
              <a:latin typeface="Arial"/>
              <a:ea typeface="Arial"/>
              <a:cs typeface="Arial"/>
              <a:sym typeface="Arial"/>
            </a:endParaRPr>
          </a:p>
        </p:txBody>
      </p:sp>
      <p:pic>
        <p:nvPicPr>
          <p:cNvPr id="465" name="Google Shape;465;p51" title="write_behind.png"/>
          <p:cNvPicPr preferRelativeResize="0"/>
          <p:nvPr/>
        </p:nvPicPr>
        <p:blipFill rotWithShape="1">
          <a:blip r:embed="rId3">
            <a:alphaModFix/>
          </a:blip>
          <a:srcRect b="0" l="0" r="0" t="0"/>
          <a:stretch/>
        </p:blipFill>
        <p:spPr>
          <a:xfrm>
            <a:off x="1612037" y="1121775"/>
            <a:ext cx="5919924" cy="3946601"/>
          </a:xfrm>
          <a:prstGeom prst="rect">
            <a:avLst/>
          </a:prstGeom>
          <a:solidFill>
            <a:srgbClr val="FFFFFF"/>
          </a:solidFill>
          <a:ln cap="flat" cmpd="sng" w="9525">
            <a:solidFill>
              <a:srgbClr val="E2E8F0"/>
            </a:solidFill>
            <a:prstDash val="solid"/>
            <a:round/>
            <a:headEnd len="sm" w="sm" type="none"/>
            <a:tailEnd len="sm" w="sm" type="none"/>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0" name="Shape 470"/>
        <p:cNvGrpSpPr/>
        <p:nvPr/>
      </p:nvGrpSpPr>
      <p:grpSpPr>
        <a:xfrm>
          <a:off x="0" y="0"/>
          <a:ext cx="0" cy="0"/>
          <a:chOff x="0" y="0"/>
          <a:chExt cx="0" cy="0"/>
        </a:xfrm>
      </p:grpSpPr>
      <p:sp>
        <p:nvSpPr>
          <p:cNvPr id="471" name="Google Shape;471;p52"/>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Patrones Redis - Write-behind</a:t>
            </a:r>
            <a:endParaRPr b="0" i="0" sz="1100" u="none" cap="none" strike="noStrike">
              <a:solidFill>
                <a:srgbClr val="000000"/>
              </a:solidFill>
              <a:latin typeface="Arial"/>
              <a:ea typeface="Arial"/>
              <a:cs typeface="Arial"/>
              <a:sym typeface="Arial"/>
            </a:endParaRPr>
          </a:p>
        </p:txBody>
      </p:sp>
      <p:pic>
        <p:nvPicPr>
          <p:cNvPr id="472" name="Google Shape;472;p52"/>
          <p:cNvPicPr preferRelativeResize="0"/>
          <p:nvPr/>
        </p:nvPicPr>
        <p:blipFill>
          <a:blip r:embed="rId3">
            <a:alphaModFix/>
          </a:blip>
          <a:stretch>
            <a:fillRect/>
          </a:stretch>
        </p:blipFill>
        <p:spPr>
          <a:xfrm>
            <a:off x="62875" y="1336758"/>
            <a:ext cx="4411851" cy="3245955"/>
          </a:xfrm>
          <a:prstGeom prst="rect">
            <a:avLst/>
          </a:prstGeom>
          <a:noFill/>
          <a:ln>
            <a:noFill/>
          </a:ln>
        </p:spPr>
      </p:pic>
      <p:pic>
        <p:nvPicPr>
          <p:cNvPr id="473" name="Google Shape;473;p52"/>
          <p:cNvPicPr preferRelativeResize="0"/>
          <p:nvPr/>
        </p:nvPicPr>
        <p:blipFill rotWithShape="1">
          <a:blip r:embed="rId4">
            <a:alphaModFix/>
          </a:blip>
          <a:srcRect b="0" l="0" r="30987" t="0"/>
          <a:stretch/>
        </p:blipFill>
        <p:spPr>
          <a:xfrm>
            <a:off x="4474725" y="1336750"/>
            <a:ext cx="4411849" cy="324597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53"/>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Patrones Redis - Write-behind</a:t>
            </a:r>
            <a:endParaRPr b="0" i="0" sz="1100" u="none" cap="none" strike="noStrike">
              <a:solidFill>
                <a:srgbClr val="000000"/>
              </a:solidFill>
              <a:latin typeface="Arial"/>
              <a:ea typeface="Arial"/>
              <a:cs typeface="Arial"/>
              <a:sym typeface="Arial"/>
            </a:endParaRPr>
          </a:p>
        </p:txBody>
      </p:sp>
      <p:pic>
        <p:nvPicPr>
          <p:cNvPr id="480" name="Google Shape;480;p53"/>
          <p:cNvPicPr preferRelativeResize="0"/>
          <p:nvPr/>
        </p:nvPicPr>
        <p:blipFill>
          <a:blip r:embed="rId3">
            <a:alphaModFix/>
          </a:blip>
          <a:stretch>
            <a:fillRect/>
          </a:stretch>
        </p:blipFill>
        <p:spPr>
          <a:xfrm>
            <a:off x="302075" y="1308775"/>
            <a:ext cx="4644075" cy="1748050"/>
          </a:xfrm>
          <a:prstGeom prst="rect">
            <a:avLst/>
          </a:prstGeom>
          <a:noFill/>
          <a:ln>
            <a:noFill/>
          </a:ln>
        </p:spPr>
      </p:pic>
      <p:pic>
        <p:nvPicPr>
          <p:cNvPr id="481" name="Google Shape;481;p53"/>
          <p:cNvPicPr preferRelativeResize="0"/>
          <p:nvPr/>
        </p:nvPicPr>
        <p:blipFill>
          <a:blip r:embed="rId4">
            <a:alphaModFix/>
          </a:blip>
          <a:stretch>
            <a:fillRect/>
          </a:stretch>
        </p:blipFill>
        <p:spPr>
          <a:xfrm>
            <a:off x="5182200" y="1271322"/>
            <a:ext cx="3682201" cy="3574952"/>
          </a:xfrm>
          <a:prstGeom prst="rect">
            <a:avLst/>
          </a:prstGeom>
          <a:noFill/>
          <a:ln>
            <a:noFill/>
          </a:ln>
        </p:spPr>
      </p:pic>
      <p:pic>
        <p:nvPicPr>
          <p:cNvPr id="482" name="Google Shape;482;p53" title="ChatGPT Image 15 may 2026, 11_09_58 a.m.png"/>
          <p:cNvPicPr preferRelativeResize="0"/>
          <p:nvPr/>
        </p:nvPicPr>
        <p:blipFill>
          <a:blip r:embed="rId5">
            <a:alphaModFix/>
          </a:blip>
          <a:stretch>
            <a:fillRect/>
          </a:stretch>
        </p:blipFill>
        <p:spPr>
          <a:xfrm>
            <a:off x="758201" y="3243150"/>
            <a:ext cx="2848499" cy="160312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54"/>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Patrones Redis - Cache Aside</a:t>
            </a:r>
            <a:endParaRPr b="0" i="0" sz="1100" u="none" cap="none" strike="noStrike">
              <a:solidFill>
                <a:srgbClr val="000000"/>
              </a:solidFill>
              <a:latin typeface="Arial"/>
              <a:ea typeface="Arial"/>
              <a:cs typeface="Arial"/>
              <a:sym typeface="Arial"/>
            </a:endParaRPr>
          </a:p>
        </p:txBody>
      </p:sp>
      <p:pic>
        <p:nvPicPr>
          <p:cNvPr id="489" name="Google Shape;489;p54" title="cache_aside.png"/>
          <p:cNvPicPr preferRelativeResize="0"/>
          <p:nvPr/>
        </p:nvPicPr>
        <p:blipFill rotWithShape="1">
          <a:blip r:embed="rId3">
            <a:alphaModFix/>
          </a:blip>
          <a:srcRect b="0" l="0" r="0" t="0"/>
          <a:stretch/>
        </p:blipFill>
        <p:spPr>
          <a:xfrm>
            <a:off x="1698125" y="1117275"/>
            <a:ext cx="5965202" cy="397679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p55"/>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Patrones Redis - Cache Aside</a:t>
            </a:r>
            <a:endParaRPr b="0" i="0" sz="1100" u="none" cap="none" strike="noStrike">
              <a:solidFill>
                <a:srgbClr val="000000"/>
              </a:solidFill>
              <a:latin typeface="Arial"/>
              <a:ea typeface="Arial"/>
              <a:cs typeface="Arial"/>
              <a:sym typeface="Arial"/>
            </a:endParaRPr>
          </a:p>
        </p:txBody>
      </p:sp>
      <p:pic>
        <p:nvPicPr>
          <p:cNvPr id="496" name="Google Shape;496;p55"/>
          <p:cNvPicPr preferRelativeResize="0"/>
          <p:nvPr/>
        </p:nvPicPr>
        <p:blipFill>
          <a:blip r:embed="rId3">
            <a:alphaModFix/>
          </a:blip>
          <a:stretch>
            <a:fillRect/>
          </a:stretch>
        </p:blipFill>
        <p:spPr>
          <a:xfrm>
            <a:off x="1415600" y="1301225"/>
            <a:ext cx="6163101" cy="359080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sp>
        <p:nvSpPr>
          <p:cNvPr id="502" name="Google Shape;502;p56"/>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lang="es-419" sz="2700">
                <a:solidFill>
                  <a:schemeClr val="lt1"/>
                </a:solidFill>
                <a:latin typeface="Calibri"/>
                <a:ea typeface="Calibri"/>
                <a:cs typeface="Calibri"/>
                <a:sym typeface="Calibri"/>
              </a:rPr>
              <a:t>Validación</a:t>
            </a:r>
            <a:r>
              <a:rPr b="1" lang="es-419" sz="2700">
                <a:solidFill>
                  <a:schemeClr val="lt1"/>
                </a:solidFill>
                <a:latin typeface="Calibri"/>
                <a:ea typeface="Calibri"/>
                <a:cs typeface="Calibri"/>
                <a:sym typeface="Calibri"/>
              </a:rPr>
              <a:t> de </a:t>
            </a:r>
            <a:r>
              <a:rPr b="1" lang="es-419" sz="2700">
                <a:solidFill>
                  <a:schemeClr val="lt1"/>
                </a:solidFill>
                <a:latin typeface="Calibri"/>
                <a:ea typeface="Calibri"/>
                <a:cs typeface="Calibri"/>
                <a:sym typeface="Calibri"/>
              </a:rPr>
              <a:t>imágenes</a:t>
            </a:r>
            <a:r>
              <a:rPr b="1" lang="es-419" sz="2700">
                <a:solidFill>
                  <a:schemeClr val="lt1"/>
                </a:solidFill>
                <a:latin typeface="Calibri"/>
                <a:ea typeface="Calibri"/>
                <a:cs typeface="Calibri"/>
                <a:sym typeface="Calibri"/>
              </a:rPr>
              <a:t> </a:t>
            </a:r>
            <a:endParaRPr b="0" i="0" sz="1100" u="none" cap="none" strike="noStrike">
              <a:solidFill>
                <a:srgbClr val="000000"/>
              </a:solidFill>
              <a:latin typeface="Arial"/>
              <a:ea typeface="Arial"/>
              <a:cs typeface="Arial"/>
              <a:sym typeface="Arial"/>
            </a:endParaRPr>
          </a:p>
        </p:txBody>
      </p:sp>
      <p:pic>
        <p:nvPicPr>
          <p:cNvPr id="503" name="Google Shape;503;p56" title="ChatGPT Image 15 may 2026, 11_37_06 a.m.png"/>
          <p:cNvPicPr preferRelativeResize="0"/>
          <p:nvPr/>
        </p:nvPicPr>
        <p:blipFill>
          <a:blip r:embed="rId3">
            <a:alphaModFix/>
          </a:blip>
          <a:stretch>
            <a:fillRect/>
          </a:stretch>
        </p:blipFill>
        <p:spPr>
          <a:xfrm>
            <a:off x="1090113" y="1151575"/>
            <a:ext cx="6963776" cy="391919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57"/>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lang="es-419" sz="2700">
                <a:solidFill>
                  <a:schemeClr val="lt1"/>
                </a:solidFill>
                <a:latin typeface="Calibri"/>
                <a:ea typeface="Calibri"/>
                <a:cs typeface="Calibri"/>
                <a:sym typeface="Calibri"/>
              </a:rPr>
              <a:t>RAG - Validación de productos apoyado por IA</a:t>
            </a:r>
            <a:endParaRPr b="0" i="0" sz="1100" u="none" cap="none" strike="noStrike">
              <a:solidFill>
                <a:srgbClr val="000000"/>
              </a:solidFill>
              <a:latin typeface="Arial"/>
              <a:ea typeface="Arial"/>
              <a:cs typeface="Arial"/>
              <a:sym typeface="Arial"/>
            </a:endParaRPr>
          </a:p>
        </p:txBody>
      </p:sp>
      <p:pic>
        <p:nvPicPr>
          <p:cNvPr id="510" name="Google Shape;510;p57" title="ChatGPT Image 14 may 2026, 06_31_49 p.m.png"/>
          <p:cNvPicPr preferRelativeResize="0"/>
          <p:nvPr/>
        </p:nvPicPr>
        <p:blipFill>
          <a:blip r:embed="rId3">
            <a:alphaModFix/>
          </a:blip>
          <a:stretch>
            <a:fillRect/>
          </a:stretch>
        </p:blipFill>
        <p:spPr>
          <a:xfrm>
            <a:off x="999325" y="1122125"/>
            <a:ext cx="7145325" cy="402137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58"/>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lang="es-419" sz="2700">
                <a:solidFill>
                  <a:schemeClr val="lt1"/>
                </a:solidFill>
                <a:latin typeface="Calibri"/>
                <a:ea typeface="Calibri"/>
                <a:cs typeface="Calibri"/>
                <a:sym typeface="Calibri"/>
              </a:rPr>
              <a:t>RAG - Validación de productos apoyado por IA</a:t>
            </a:r>
            <a:endParaRPr b="0" i="0" sz="1100" u="none" cap="none" strike="noStrike">
              <a:solidFill>
                <a:srgbClr val="000000"/>
              </a:solidFill>
              <a:latin typeface="Arial"/>
              <a:ea typeface="Arial"/>
              <a:cs typeface="Arial"/>
              <a:sym typeface="Arial"/>
            </a:endParaRPr>
          </a:p>
        </p:txBody>
      </p:sp>
      <p:pic>
        <p:nvPicPr>
          <p:cNvPr id="517" name="Google Shape;517;p58"/>
          <p:cNvPicPr preferRelativeResize="0"/>
          <p:nvPr/>
        </p:nvPicPr>
        <p:blipFill>
          <a:blip r:embed="rId3">
            <a:alphaModFix/>
          </a:blip>
          <a:stretch>
            <a:fillRect/>
          </a:stretch>
        </p:blipFill>
        <p:spPr>
          <a:xfrm>
            <a:off x="558850" y="1216900"/>
            <a:ext cx="8026302" cy="1781000"/>
          </a:xfrm>
          <a:prstGeom prst="rect">
            <a:avLst/>
          </a:prstGeom>
          <a:noFill/>
          <a:ln>
            <a:noFill/>
          </a:ln>
        </p:spPr>
      </p:pic>
      <p:pic>
        <p:nvPicPr>
          <p:cNvPr id="518" name="Google Shape;518;p58"/>
          <p:cNvPicPr preferRelativeResize="0"/>
          <p:nvPr/>
        </p:nvPicPr>
        <p:blipFill>
          <a:blip r:embed="rId4">
            <a:alphaModFix/>
          </a:blip>
          <a:stretch>
            <a:fillRect/>
          </a:stretch>
        </p:blipFill>
        <p:spPr>
          <a:xfrm>
            <a:off x="1102725" y="3120374"/>
            <a:ext cx="7030035" cy="16761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59"/>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lang="es-419" sz="2700">
                <a:solidFill>
                  <a:schemeClr val="lt1"/>
                </a:solidFill>
                <a:latin typeface="Calibri"/>
                <a:ea typeface="Calibri"/>
                <a:cs typeface="Calibri"/>
                <a:sym typeface="Calibri"/>
              </a:rPr>
              <a:t>RAG - Validación de productos apoyado por IA</a:t>
            </a:r>
            <a:endParaRPr b="0" i="0" sz="1100" u="none" cap="none" strike="noStrike">
              <a:solidFill>
                <a:srgbClr val="000000"/>
              </a:solidFill>
              <a:latin typeface="Arial"/>
              <a:ea typeface="Arial"/>
              <a:cs typeface="Arial"/>
              <a:sym typeface="Arial"/>
            </a:endParaRPr>
          </a:p>
        </p:txBody>
      </p:sp>
      <p:grpSp>
        <p:nvGrpSpPr>
          <p:cNvPr id="525" name="Google Shape;525;p59"/>
          <p:cNvGrpSpPr/>
          <p:nvPr/>
        </p:nvGrpSpPr>
        <p:grpSpPr>
          <a:xfrm>
            <a:off x="381000" y="1238250"/>
            <a:ext cx="8382000" cy="2857500"/>
            <a:chOff x="381000" y="1238250"/>
            <a:chExt cx="8382000" cy="2857500"/>
          </a:xfrm>
        </p:grpSpPr>
        <p:sp>
          <p:nvSpPr>
            <p:cNvPr id="526" name="Google Shape;526;p59"/>
            <p:cNvSpPr/>
            <p:nvPr/>
          </p:nvSpPr>
          <p:spPr>
            <a:xfrm>
              <a:off x="381000" y="1238250"/>
              <a:ext cx="8382000" cy="2857500"/>
            </a:xfrm>
            <a:prstGeom prst="roundRect">
              <a:avLst>
                <a:gd fmla="val 5000" name="adj"/>
              </a:avLst>
            </a:prstGeom>
            <a:solidFill>
              <a:srgbClr val="2D2E30"/>
            </a:solidFill>
            <a:ln cap="flat" cmpd="sng" w="9525">
              <a:solidFill>
                <a:srgbClr val="4B4D5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27" name="Google Shape;527;p59"/>
            <p:cNvSpPr txBox="1"/>
            <p:nvPr/>
          </p:nvSpPr>
          <p:spPr>
            <a:xfrm>
              <a:off x="666750" y="1428750"/>
              <a:ext cx="78105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s-419" sz="1600">
                  <a:solidFill>
                    <a:srgbClr val="39A900"/>
                  </a:solidFill>
                  <a:latin typeface="Calibri"/>
                  <a:ea typeface="Calibri"/>
                  <a:cs typeface="Calibri"/>
                  <a:sym typeface="Calibri"/>
                </a:rPr>
                <a:t>Consulta SQL con Búsqueda por Vectores</a:t>
              </a:r>
              <a:endParaRPr b="1" sz="1600">
                <a:solidFill>
                  <a:srgbClr val="39A900"/>
                </a:solidFill>
                <a:latin typeface="Calibri"/>
                <a:ea typeface="Calibri"/>
                <a:cs typeface="Calibri"/>
                <a:sym typeface="Calibri"/>
              </a:endParaRPr>
            </a:p>
          </p:txBody>
        </p:sp>
        <p:pic>
          <p:nvPicPr>
            <p:cNvPr id="528" name="Google Shape;528;p59"/>
            <p:cNvPicPr preferRelativeResize="0"/>
            <p:nvPr/>
          </p:nvPicPr>
          <p:blipFill rotWithShape="1">
            <a:blip r:embed="rId3">
              <a:alphaModFix/>
            </a:blip>
            <a:srcRect b="10618" l="0" r="0" t="10618"/>
            <a:stretch/>
          </p:blipFill>
          <p:spPr>
            <a:xfrm>
              <a:off x="666750" y="1905000"/>
              <a:ext cx="7810500" cy="2000100"/>
            </a:xfrm>
            <a:prstGeom prst="rect">
              <a:avLst/>
            </a:prstGeom>
            <a:noFill/>
            <a:ln>
              <a:noFill/>
            </a:ln>
          </p:spPr>
        </p:pic>
      </p:grpSp>
      <p:grpSp>
        <p:nvGrpSpPr>
          <p:cNvPr id="529" name="Google Shape;529;p59"/>
          <p:cNvGrpSpPr/>
          <p:nvPr/>
        </p:nvGrpSpPr>
        <p:grpSpPr>
          <a:xfrm>
            <a:off x="381000" y="4286250"/>
            <a:ext cx="8382000" cy="571500"/>
            <a:chOff x="381000" y="4286250"/>
            <a:chExt cx="8382000" cy="571500"/>
          </a:xfrm>
        </p:grpSpPr>
        <p:sp>
          <p:nvSpPr>
            <p:cNvPr id="530" name="Google Shape;530;p59"/>
            <p:cNvSpPr/>
            <p:nvPr/>
          </p:nvSpPr>
          <p:spPr>
            <a:xfrm>
              <a:off x="381000" y="4286250"/>
              <a:ext cx="8382000" cy="571500"/>
            </a:xfrm>
            <a:prstGeom prst="roundRect">
              <a:avLst>
                <a:gd fmla="val 16666" name="adj"/>
              </a:avLst>
            </a:prstGeom>
            <a:solidFill>
              <a:srgbClr val="39A900">
                <a:alpha val="10000"/>
              </a:srgbClr>
            </a:solidFill>
            <a:ln cap="flat" cmpd="sng" w="9525">
              <a:solidFill>
                <a:srgbClr val="39A90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531" name="Google Shape;531;p59"/>
            <p:cNvSpPr txBox="1"/>
            <p:nvPr/>
          </p:nvSpPr>
          <p:spPr>
            <a:xfrm>
              <a:off x="571500" y="4286250"/>
              <a:ext cx="80010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s-419" sz="1400">
                  <a:solidFill>
                    <a:schemeClr val="dk1"/>
                  </a:solidFill>
                  <a:latin typeface="Calibri"/>
                  <a:ea typeface="Calibri"/>
                  <a:cs typeface="Calibri"/>
                  <a:sym typeface="Calibri"/>
                </a:rPr>
                <a:t>Cálculo de Similitud: </a:t>
              </a:r>
              <a:r>
                <a:rPr b="1" lang="es-419" sz="1400">
                  <a:solidFill>
                    <a:schemeClr val="dk1"/>
                  </a:solidFill>
                  <a:latin typeface="Calibri"/>
                  <a:ea typeface="Calibri"/>
                  <a:cs typeface="Calibri"/>
                  <a:sym typeface="Calibri"/>
                </a:rPr>
                <a:t>Operador de distancia coseno (⇔)</a:t>
              </a:r>
              <a:endParaRPr b="0" sz="1400">
                <a:solidFill>
                  <a:schemeClr val="dk1"/>
                </a:solidFill>
                <a:latin typeface="Calibri"/>
                <a:ea typeface="Calibri"/>
                <a:cs typeface="Calibri"/>
                <a:sym typeface="Calibri"/>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6" name="Shape 536"/>
        <p:cNvGrpSpPr/>
        <p:nvPr/>
      </p:nvGrpSpPr>
      <p:grpSpPr>
        <a:xfrm>
          <a:off x="0" y="0"/>
          <a:ext cx="0" cy="0"/>
          <a:chOff x="0" y="0"/>
          <a:chExt cx="0" cy="0"/>
        </a:xfrm>
      </p:grpSpPr>
      <p:sp>
        <p:nvSpPr>
          <p:cNvPr id="537" name="Google Shape;537;p60"/>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lang="es-419" sz="2700">
                <a:solidFill>
                  <a:schemeClr val="lt1"/>
                </a:solidFill>
                <a:latin typeface="Calibri"/>
                <a:ea typeface="Calibri"/>
                <a:cs typeface="Calibri"/>
                <a:sym typeface="Calibri"/>
              </a:rPr>
              <a:t>RAG - Validación de productos apoyado por IA</a:t>
            </a:r>
            <a:endParaRPr b="0" i="0" sz="1100" u="none" cap="none" strike="noStrike">
              <a:solidFill>
                <a:srgbClr val="000000"/>
              </a:solidFill>
              <a:latin typeface="Arial"/>
              <a:ea typeface="Arial"/>
              <a:cs typeface="Arial"/>
              <a:sym typeface="Arial"/>
            </a:endParaRPr>
          </a:p>
        </p:txBody>
      </p:sp>
      <p:pic>
        <p:nvPicPr>
          <p:cNvPr id="538" name="Google Shape;538;p60"/>
          <p:cNvPicPr preferRelativeResize="0"/>
          <p:nvPr/>
        </p:nvPicPr>
        <p:blipFill>
          <a:blip r:embed="rId3">
            <a:alphaModFix/>
          </a:blip>
          <a:stretch>
            <a:fillRect/>
          </a:stretch>
        </p:blipFill>
        <p:spPr>
          <a:xfrm>
            <a:off x="58625" y="1259300"/>
            <a:ext cx="8875848" cy="35289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61"/>
          <p:cNvSpPr txBox="1"/>
          <p:nvPr/>
        </p:nvSpPr>
        <p:spPr>
          <a:xfrm>
            <a:off x="421913" y="252472"/>
            <a:ext cx="7241400" cy="484800"/>
          </a:xfrm>
          <a:prstGeom prst="rect">
            <a:avLst/>
          </a:prstGeom>
          <a:noFill/>
          <a:ln>
            <a:noFill/>
          </a:ln>
        </p:spPr>
        <p:txBody>
          <a:bodyPr anchorCtr="0" anchor="t" bIns="34275" lIns="68575" spcFirstLastPara="1" rIns="68575" wrap="square" tIns="34275">
            <a:spAutoFit/>
          </a:bodyPr>
          <a:lstStyle/>
          <a:p>
            <a:pPr indent="0" lvl="0" marL="0" marR="0" rtl="0" algn="l">
              <a:lnSpc>
                <a:spcPct val="100000"/>
              </a:lnSpc>
              <a:spcBef>
                <a:spcPts val="0"/>
              </a:spcBef>
              <a:spcAft>
                <a:spcPts val="0"/>
              </a:spcAft>
              <a:buClr>
                <a:srgbClr val="000000"/>
              </a:buClr>
              <a:buSzPts val="2700"/>
              <a:buFont typeface="Arial"/>
              <a:buNone/>
            </a:pPr>
            <a:r>
              <a:rPr b="1" i="0" lang="es-419" sz="2700" u="none" cap="none" strike="noStrike">
                <a:solidFill>
                  <a:schemeClr val="lt1"/>
                </a:solidFill>
                <a:latin typeface="Calibri"/>
                <a:ea typeface="Calibri"/>
                <a:cs typeface="Calibri"/>
                <a:sym typeface="Calibri"/>
              </a:rPr>
              <a:t>Referencias</a:t>
            </a:r>
            <a:endParaRPr b="0" i="0" sz="1100" u="none" cap="none" strike="noStrike">
              <a:solidFill>
                <a:srgbClr val="000000"/>
              </a:solidFill>
              <a:latin typeface="Arial"/>
              <a:ea typeface="Arial"/>
              <a:cs typeface="Arial"/>
              <a:sym typeface="Arial"/>
            </a:endParaRPr>
          </a:p>
        </p:txBody>
      </p:sp>
      <p:sp>
        <p:nvSpPr>
          <p:cNvPr id="545" name="Google Shape;545;p61"/>
          <p:cNvSpPr txBox="1"/>
          <p:nvPr/>
        </p:nvSpPr>
        <p:spPr>
          <a:xfrm>
            <a:off x="668825" y="1473000"/>
            <a:ext cx="7524300" cy="2404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1" i="0" lang="es-419" sz="1100" u="none" cap="none" strike="noStrike">
                <a:solidFill>
                  <a:schemeClr val="dk1"/>
                </a:solidFill>
                <a:latin typeface="Arial"/>
                <a:ea typeface="Arial"/>
                <a:cs typeface="Arial"/>
                <a:sym typeface="Arial"/>
              </a:rPr>
              <a:t>Artesanías de Colombia.</a:t>
            </a:r>
            <a:r>
              <a:rPr b="0" i="0" lang="es-419" sz="1100" u="none" cap="none" strike="noStrike">
                <a:solidFill>
                  <a:schemeClr val="dk1"/>
                </a:solidFill>
                <a:latin typeface="Arial"/>
                <a:ea typeface="Arial"/>
                <a:cs typeface="Arial"/>
                <a:sym typeface="Arial"/>
              </a:rPr>
              <a:t> (2025). </a:t>
            </a:r>
            <a:r>
              <a:rPr b="0" i="1" lang="es-419" sz="1100" u="none" cap="none" strike="noStrike">
                <a:solidFill>
                  <a:schemeClr val="dk1"/>
                </a:solidFill>
                <a:latin typeface="Arial"/>
                <a:ea typeface="Arial"/>
                <a:cs typeface="Arial"/>
                <a:sym typeface="Arial"/>
              </a:rPr>
              <a:t>Informe de Gestión 2025 - ¿Cómo vamos?</a:t>
            </a:r>
            <a:r>
              <a:rPr b="0" i="0" lang="es-419" sz="1100" u="none" cap="none" strike="noStrike">
                <a:solidFill>
                  <a:schemeClr val="dk1"/>
                </a:solidFill>
                <a:latin typeface="Arial"/>
                <a:ea typeface="Arial"/>
                <a:cs typeface="Arial"/>
                <a:sym typeface="Arial"/>
              </a:rPr>
              <a:t>. Subgerencia de Desarrollo y Fortalecimiento del Sector Artesanal.</a:t>
            </a:r>
            <a:r>
              <a:rPr b="0" i="0" lang="es-419" sz="1100" u="none" cap="none" strike="noStrike">
                <a:solidFill>
                  <a:schemeClr val="hlink"/>
                </a:solidFill>
                <a:uFill>
                  <a:noFill/>
                </a:uFill>
                <a:latin typeface="Arial"/>
                <a:ea typeface="Arial"/>
                <a:cs typeface="Arial"/>
                <a:sym typeface="Arial"/>
                <a:hlinkClick r:id="rId3"/>
              </a:rPr>
              <a:t> </a:t>
            </a:r>
            <a:r>
              <a:rPr b="0" i="0" lang="es-419" sz="1100" u="sng" cap="none" strike="noStrike">
                <a:solidFill>
                  <a:schemeClr val="hlink"/>
                </a:solidFill>
                <a:latin typeface="Arial"/>
                <a:ea typeface="Arial"/>
                <a:cs typeface="Arial"/>
                <a:sym typeface="Arial"/>
                <a:hlinkClick r:id="rId4"/>
              </a:rPr>
              <a:t>https://www.artesaniasdecolombia.com.co/document/documentos/Version_final_copia.pdf</a:t>
            </a:r>
            <a:endParaRPr b="0" i="0" sz="1100" u="sng" cap="none" strike="noStrike">
              <a:solidFill>
                <a:schemeClr val="hlink"/>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1100" u="sng" cap="none" strike="noStrike">
              <a:solidFill>
                <a:schemeClr val="hlink"/>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s-419" sz="1100" u="none" cap="none" strike="noStrike">
                <a:solidFill>
                  <a:schemeClr val="dk1"/>
                </a:solidFill>
                <a:latin typeface="Arial"/>
                <a:ea typeface="Arial"/>
                <a:cs typeface="Arial"/>
                <a:sym typeface="Arial"/>
              </a:rPr>
              <a:t>Departamento Administrativo Nacional de Estadística (DANE).</a:t>
            </a:r>
            <a:r>
              <a:rPr b="0" i="0" lang="es-419" sz="1100" u="none" cap="none" strike="noStrike">
                <a:solidFill>
                  <a:schemeClr val="dk1"/>
                </a:solidFill>
                <a:latin typeface="Arial"/>
                <a:ea typeface="Arial"/>
                <a:cs typeface="Arial"/>
                <a:sym typeface="Arial"/>
              </a:rPr>
              <a:t> (2025). </a:t>
            </a:r>
            <a:r>
              <a:rPr b="0" i="1" lang="es-419" sz="1100" u="none" cap="none" strike="noStrike">
                <a:solidFill>
                  <a:schemeClr val="dk1"/>
                </a:solidFill>
                <a:latin typeface="Arial"/>
                <a:ea typeface="Arial"/>
                <a:cs typeface="Arial"/>
                <a:sym typeface="Arial"/>
              </a:rPr>
              <a:t>Cuenta Satélite de Economía Cultural y Creativa (CSECC) 2022-2024 preliminar</a:t>
            </a:r>
            <a:r>
              <a:rPr b="0" i="0" lang="es-419" sz="1100" u="none" cap="none" strike="noStrike">
                <a:solidFill>
                  <a:schemeClr val="dk1"/>
                </a:solidFill>
                <a:latin typeface="Arial"/>
                <a:ea typeface="Arial"/>
                <a:cs typeface="Arial"/>
                <a:sym typeface="Arial"/>
              </a:rPr>
              <a:t>. Boletín Técnico.</a:t>
            </a:r>
            <a:r>
              <a:rPr b="0" i="0" lang="es-419" sz="1100" u="none" cap="none" strike="noStrike">
                <a:solidFill>
                  <a:schemeClr val="hlink"/>
                </a:solidFill>
                <a:uFill>
                  <a:noFill/>
                </a:uFill>
                <a:latin typeface="Arial"/>
                <a:ea typeface="Arial"/>
                <a:cs typeface="Arial"/>
                <a:sym typeface="Arial"/>
                <a:hlinkClick r:id="rId5"/>
              </a:rPr>
              <a:t> </a:t>
            </a:r>
            <a:r>
              <a:rPr b="0" i="0" lang="es-419" sz="1100" u="sng" cap="none" strike="noStrike">
                <a:solidFill>
                  <a:schemeClr val="hlink"/>
                </a:solidFill>
                <a:latin typeface="Arial"/>
                <a:ea typeface="Arial"/>
                <a:cs typeface="Arial"/>
                <a:sym typeface="Arial"/>
                <a:hlinkClick r:id="rId6"/>
              </a:rPr>
              <a:t>https://www.dane.gov.co/files/operaciones/CSECC/bol-CSECC-2024pr.pdf</a:t>
            </a:r>
            <a:endParaRPr b="0" i="0" sz="1100" u="sng" cap="none" strike="noStrike">
              <a:solidFill>
                <a:schemeClr val="hlink"/>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pic>
        <p:nvPicPr>
          <p:cNvPr id="550" name="Google Shape;550;p62"/>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