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  <p:sldMasterId id="2147483678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6858000" cy="9144000"/>
  <p:embeddedFontLst>
    <p:embeddedFont>
      <p:font typeface="Lato" panose="020F0502020204030203" pitchFamily="34" charset="0"/>
      <p:bold r:id="rId20"/>
      <p:boldItalic r:id="rId21"/>
    </p:embeddedFont>
    <p:embeddedFont>
      <p:font typeface="Urbanist" panose="020B0604020202020204" charset="0"/>
      <p:bold r:id="rId22"/>
      <p:boldItalic r:id="rId23"/>
    </p:embeddedFont>
    <p:embeddedFont>
      <p:font typeface="Work Sans" pitchFamily="2" charset="0"/>
      <p:regular r:id="rId24"/>
      <p:bold r:id="rId25"/>
      <p:italic r:id="rId26"/>
      <p:boldItalic r:id="rId27"/>
    </p:embeddedFont>
    <p:embeddedFont>
      <p:font typeface="Work Sans Black" pitchFamily="2" charset="0"/>
      <p:bold r:id="rId28"/>
      <p:boldItalic r:id="rId29"/>
    </p:embeddedFont>
    <p:embeddedFont>
      <p:font typeface="Work Sans ExtraBold" pitchFamily="2" charset="0"/>
      <p:bold r:id="rId30"/>
      <p:boldItalic r:id="rId31"/>
    </p:embeddedFont>
    <p:embeddedFont>
      <p:font typeface="Work Sans SemiBold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af4288158_2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3daf4288158_2_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daf4288158_2_8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af4288158_2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3daf4288158_2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Utilice esta diapositiva para incluir tablas y gráficos.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184" name="Google Shape;184;g3daf4288158_2_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419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af4288158_2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3daf4288158_2_1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Utilice esta diapositiva para incluir tablas y gráficos.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197" name="Google Shape;197;g3daf4288158_2_1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419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af4288158_2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9" name="Google Shape;209;g3daf4288158_2_1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Utilice esta diapositiva para incluir tablas y gráficos.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210" name="Google Shape;210;g3daf4288158_2_1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419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a7c5c37e7_0_17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39a7c5c37e7_0_17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Utilice esta diapositiva para incluir tablas y gráficos.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223" name="Google Shape;223;g39a7c5c37e7_0_17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419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af4288158_2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g3daf4288158_2_1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Utilice esta diapositiva para incluir tablas y gráficos.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267" name="Google Shape;267;g3daf4288158_2_1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419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f5a55d93a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0" name="Google Shape;280;g3df5a55d93a_0_3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Utilice esta diapositiva para incluir tablas y gráficos.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281" name="Google Shape;281;g3df5a55d93a_0_3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419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9ab00cafff_0_7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g39ab00cafff_0_7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Utilice esta diapositiva para incluir tablas y gráficos.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299" name="Google Shape;299;g39ab00cafff_0_76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419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9ab00cafff_0_7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39ab00cafff_0_7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Utilice esta diapositiva para incluir tablas y gráficos.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325" name="Google Shape;325;g39ab00cafff_0_7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419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9ab00cafff_0_8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1" name="Google Shape;331;g39ab00cafff_0_80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Utilice esta diapositiva para incluir tablas y gráficos.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332" name="Google Shape;332;g39ab00cafff_0_8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419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9ab00cafff_0_1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g39ab00cafff_0_110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Utilice esta diapositiva para incluir tablas y gráficos.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348" name="Google Shape;348;g39ab00cafff_0_11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419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9ab00cafff_0_1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g39ab00cafff_0_13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Utilice esta diapositiva para incluir tablas y gráficos.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364" name="Google Shape;364;g39ab00cafff_0_13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419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ab00cafff_0_1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g39ab00cafff_0_13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Utilice esta diapositiva para incluir tablas y gráficos.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372" name="Google Shape;372;g39ab00cafff_0_13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419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9ab00cafff_0_1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g39ab00cafff_0_13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Utilice esta diapositiva para incluir tablas y gráficos.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379" name="Google Shape;379;g39ab00cafff_0_13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419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9ab00cafff_0_13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g39ab00cafff_0_136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Utilice esta diapositiva para incluir tablas y gráficos.</a:t>
            </a:r>
            <a:endParaRPr/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s-419"/>
              <a:t>Los textos deben ir en azul (utilice el azul que aparece en la opciones de color de letra - -&gt; colores recientes) en tipografía Arial.</a:t>
            </a:r>
            <a:endParaRPr/>
          </a:p>
        </p:txBody>
      </p:sp>
      <p:sp>
        <p:nvSpPr>
          <p:cNvPr id="386" name="Google Shape;386;g39ab00cafff_0_13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s-419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af4288158_2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g3daf4288158_2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 descr="Interfaz de usuario gráfica, Texto, Aplicación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ación">
  <p:cSld name="1_Comparació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de título">
  <p:cSld name="1_Diapositiva de título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7" descr="Interfaz de usuario gráfica, Texto, Aplicación&#10;&#10;Descripción generada automáticament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6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48" name="Google Shape;148;p26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49" name="Google Shape;149;p2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7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7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56" name="Google Shape;156;p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9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2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mparación">
  <p:cSld name="1_Comparación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9a7cb7eca0_9_0)">
  <p:cSld name="Generated (g39a7cb7eca0_9_0)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91" name="Google Shape;91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rtesaniasdecolombia.com.co/document/documentos/Version_final_copia.pdf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ane.gov.co/files/operaciones/CSECC/bol-CSECC-2024pr.pdf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/>
        </p:nvSpPr>
        <p:spPr>
          <a:xfrm>
            <a:off x="1505859" y="982842"/>
            <a:ext cx="6132300" cy="11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400" b="1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SERVICIO NACIONAL DE APRENDIZAJE</a:t>
            </a:r>
            <a:endParaRPr sz="900"/>
          </a:p>
        </p:txBody>
      </p:sp>
      <p:sp>
        <p:nvSpPr>
          <p:cNvPr id="180" name="Google Shape;180;p32"/>
          <p:cNvSpPr/>
          <p:nvPr/>
        </p:nvSpPr>
        <p:spPr>
          <a:xfrm>
            <a:off x="468749" y="2450152"/>
            <a:ext cx="8206500" cy="15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 b="1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PROYECTO DE SOFTWARE ADSO</a:t>
            </a:r>
            <a:endParaRPr sz="3200" b="1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 b="1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CSET</a:t>
            </a:r>
            <a:endParaRPr sz="100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 b="1" i="0" u="none" strike="noStrike" cap="non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Ficha </a:t>
            </a:r>
            <a:r>
              <a:rPr lang="es-419" sz="3200" b="1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2993128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81075" y="1182650"/>
            <a:ext cx="3829200" cy="38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3"/>
          <p:cNvSpPr txBox="1"/>
          <p:nvPr/>
        </p:nvSpPr>
        <p:spPr>
          <a:xfrm>
            <a:off x="381000" y="190500"/>
            <a:ext cx="7620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Título del Proyecto</a:t>
            </a:r>
            <a:endParaRPr sz="3200" b="1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88" name="Google Shape;188;p33"/>
          <p:cNvSpPr/>
          <p:nvPr/>
        </p:nvSpPr>
        <p:spPr>
          <a:xfrm>
            <a:off x="381000" y="1561400"/>
            <a:ext cx="4381500" cy="2885400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3"/>
          <p:cNvSpPr/>
          <p:nvPr/>
        </p:nvSpPr>
        <p:spPr>
          <a:xfrm>
            <a:off x="381000" y="1477925"/>
            <a:ext cx="4381500" cy="76200"/>
          </a:xfrm>
          <a:prstGeom prst="roundRect">
            <a:avLst>
              <a:gd name="adj" fmla="val 50000"/>
            </a:avLst>
          </a:prstGeom>
          <a:solidFill>
            <a:srgbClr val="39A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0" name="Google Shape;190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6550" y="1747700"/>
            <a:ext cx="2699100" cy="269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3"/>
          <p:cNvSpPr txBox="1"/>
          <p:nvPr/>
        </p:nvSpPr>
        <p:spPr>
          <a:xfrm>
            <a:off x="571500" y="1803200"/>
            <a:ext cx="4000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4995" b="0">
                <a:solidFill>
                  <a:srgbClr val="39A900"/>
                </a:solidFill>
                <a:latin typeface="Work Sans Black"/>
                <a:ea typeface="Work Sans Black"/>
                <a:cs typeface="Work Sans Black"/>
                <a:sym typeface="Work Sans Black"/>
              </a:rPr>
              <a:t>VIVA</a:t>
            </a:r>
            <a:endParaRPr sz="4995" b="0">
              <a:solidFill>
                <a:srgbClr val="39A900"/>
              </a:solidFill>
              <a:latin typeface="Work Sans Black"/>
              <a:ea typeface="Work Sans Black"/>
              <a:cs typeface="Work Sans Black"/>
              <a:sym typeface="Work Sans Black"/>
            </a:endParaRPr>
          </a:p>
        </p:txBody>
      </p:sp>
      <p:sp>
        <p:nvSpPr>
          <p:cNvPr id="192" name="Google Shape;192;p33"/>
          <p:cNvSpPr txBox="1"/>
          <p:nvPr/>
        </p:nvSpPr>
        <p:spPr>
          <a:xfrm>
            <a:off x="571500" y="2885925"/>
            <a:ext cx="4000500" cy="985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125"/>
              </a:spcAft>
              <a:buNone/>
            </a:pPr>
            <a:r>
              <a:rPr lang="es-419" sz="1600" b="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Implementación de solución TIC de tipo software para la gestión </a:t>
            </a:r>
            <a:r>
              <a:rPr lang="es-419" sz="1600">
                <a:solidFill>
                  <a:srgbClr val="3F3F3F"/>
                </a:solidFill>
              </a:rPr>
              <a:t>comercial de mercadillos, artesanías y productos de naturaleza autóctona.</a:t>
            </a:r>
            <a:endParaRPr sz="1600" b="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85925" y="1287500"/>
            <a:ext cx="3619500" cy="36195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/>
        </p:nvSpPr>
        <p:spPr>
          <a:xfrm>
            <a:off x="381000" y="190500"/>
            <a:ext cx="7620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Analistas</a:t>
            </a:r>
            <a:endParaRPr sz="3200" b="1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00" name="Google Shape;200;p34"/>
          <p:cNvSpPr/>
          <p:nvPr/>
        </p:nvSpPr>
        <p:spPr>
          <a:xfrm>
            <a:off x="0" y="809625"/>
            <a:ext cx="9144000" cy="76200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34"/>
          <p:cNvSpPr txBox="1"/>
          <p:nvPr/>
        </p:nvSpPr>
        <p:spPr>
          <a:xfrm>
            <a:off x="4000500" y="1143000"/>
            <a:ext cx="47625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 b="0">
                <a:solidFill>
                  <a:srgbClr val="39A900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Gerson Levi Aza Ortiz</a:t>
            </a:r>
            <a:endParaRPr sz="3200" b="0">
              <a:solidFill>
                <a:srgbClr val="39A900"/>
              </a:solidFill>
              <a:latin typeface="Work Sans ExtraBold"/>
              <a:ea typeface="Work Sans ExtraBold"/>
              <a:cs typeface="Work Sans ExtraBold"/>
              <a:sym typeface="Work Sans ExtraBold"/>
            </a:endParaRPr>
          </a:p>
        </p:txBody>
      </p:sp>
      <p:grpSp>
        <p:nvGrpSpPr>
          <p:cNvPr id="202" name="Google Shape;202;p34"/>
          <p:cNvGrpSpPr/>
          <p:nvPr/>
        </p:nvGrpSpPr>
        <p:grpSpPr>
          <a:xfrm>
            <a:off x="4000500" y="1666875"/>
            <a:ext cx="2095500" cy="304800"/>
            <a:chOff x="4102325" y="1761063"/>
            <a:chExt cx="2095500" cy="304800"/>
          </a:xfrm>
        </p:grpSpPr>
        <p:sp>
          <p:nvSpPr>
            <p:cNvPr id="203" name="Google Shape;203;p34"/>
            <p:cNvSpPr/>
            <p:nvPr/>
          </p:nvSpPr>
          <p:spPr>
            <a:xfrm>
              <a:off x="4102325" y="1761063"/>
              <a:ext cx="2095500" cy="304800"/>
            </a:xfrm>
            <a:prstGeom prst="roundRect">
              <a:avLst>
                <a:gd name="adj" fmla="val 50000"/>
              </a:avLst>
            </a:prstGeom>
            <a:solidFill>
              <a:srgbClr val="F0FDF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34"/>
            <p:cNvSpPr txBox="1"/>
            <p:nvPr/>
          </p:nvSpPr>
          <p:spPr>
            <a:xfrm>
              <a:off x="4102325" y="1761063"/>
              <a:ext cx="2095500" cy="304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 b="0">
                  <a:solidFill>
                    <a:srgbClr val="166534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rPr>
                <a:t>TECNÓLOGO ADSO</a:t>
              </a:r>
              <a:endParaRPr sz="1100" b="0">
                <a:solidFill>
                  <a:srgbClr val="166534"/>
                </a:solidFill>
                <a:latin typeface="Work Sans SemiBold"/>
                <a:ea typeface="Work Sans SemiBold"/>
                <a:cs typeface="Work Sans SemiBold"/>
                <a:sym typeface="Work Sans SemiBold"/>
              </a:endParaRPr>
            </a:p>
          </p:txBody>
        </p:sp>
      </p:grpSp>
      <p:sp>
        <p:nvSpPr>
          <p:cNvPr id="205" name="Google Shape;205;p34"/>
          <p:cNvSpPr txBox="1"/>
          <p:nvPr/>
        </p:nvSpPr>
        <p:spPr>
          <a:xfrm>
            <a:off x="4000500" y="2286000"/>
            <a:ext cx="4762500" cy="205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Perfil Profesional</a:t>
            </a:r>
            <a:endParaRPr sz="1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s-419" sz="14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tecnólogo ADSO se </a:t>
            </a:r>
            <a:r>
              <a:rPr lang="es-419"/>
              <a:t>desempeña</a:t>
            </a:r>
            <a:r>
              <a:rPr lang="es-419" sz="14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desarrollando soluciones en el que prestara servicios personales como analista, diseñador y programador de software independiente o en proyectos específicos de acuerdo con la necesidad del servicio, adquiriendo la capacidad de autoaprendizaje y la actualización de las nuevas tendencias del desarrollo de software en el mercado, al tiempo que mejora la dinámica y economía del país.</a:t>
            </a:r>
            <a:endParaRPr sz="1400"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34" title="WhatsApp Image 2025-12-07 at 9.38.16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3700" y="2006988"/>
            <a:ext cx="1911900" cy="1952700"/>
          </a:xfrm>
          <a:prstGeom prst="ellipse">
            <a:avLst/>
          </a:prstGeom>
          <a:solidFill>
            <a:srgbClr val="000000">
              <a:alpha val="0"/>
            </a:srgbClr>
          </a:solidFill>
          <a:ln w="19050" cap="flat" cmpd="sng">
            <a:solidFill>
              <a:srgbClr val="39A9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" name="Google Shape;212;p35"/>
          <p:cNvGrpSpPr/>
          <p:nvPr/>
        </p:nvGrpSpPr>
        <p:grpSpPr>
          <a:xfrm>
            <a:off x="0" y="238125"/>
            <a:ext cx="9144000" cy="647700"/>
            <a:chOff x="0" y="238125"/>
            <a:chExt cx="9144000" cy="647700"/>
          </a:xfrm>
        </p:grpSpPr>
        <p:sp>
          <p:nvSpPr>
            <p:cNvPr id="213" name="Google Shape;213;p35"/>
            <p:cNvSpPr txBox="1"/>
            <p:nvPr/>
          </p:nvSpPr>
          <p:spPr>
            <a:xfrm>
              <a:off x="381000" y="238125"/>
              <a:ext cx="762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3200" b="1">
                  <a:solidFill>
                    <a:srgbClr val="FFFFFF"/>
                  </a:solidFill>
                  <a:latin typeface="Work Sans"/>
                  <a:ea typeface="Work Sans"/>
                  <a:cs typeface="Work Sans"/>
                  <a:sym typeface="Work Sans"/>
                </a:rPr>
                <a:t>Introducción</a:t>
              </a:r>
              <a:endParaRPr sz="32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214" name="Google Shape;214;p35"/>
            <p:cNvSpPr/>
            <p:nvPr/>
          </p:nvSpPr>
          <p:spPr>
            <a:xfrm>
              <a:off x="0" y="809625"/>
              <a:ext cx="9144000" cy="76200"/>
            </a:xfrm>
            <a:prstGeom prst="rect">
              <a:avLst/>
            </a:prstGeom>
            <a:solidFill>
              <a:srgbClr val="39A9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" name="Google Shape;215;p35"/>
          <p:cNvGrpSpPr/>
          <p:nvPr/>
        </p:nvGrpSpPr>
        <p:grpSpPr>
          <a:xfrm>
            <a:off x="285450" y="1377450"/>
            <a:ext cx="8382000" cy="3551100"/>
            <a:chOff x="381000" y="1154500"/>
            <a:chExt cx="8382000" cy="3551100"/>
          </a:xfrm>
        </p:grpSpPr>
        <p:pic>
          <p:nvPicPr>
            <p:cNvPr id="216" name="Google Shape;216;p35"/>
            <p:cNvPicPr preferRelativeResize="0"/>
            <p:nvPr/>
          </p:nvPicPr>
          <p:blipFill rotWithShape="1">
            <a:blip r:embed="rId3">
              <a:alphaModFix/>
            </a:blip>
            <a:srcRect l="2757" t="1547" r="39927" b="5247"/>
            <a:stretch/>
          </p:blipFill>
          <p:spPr>
            <a:xfrm>
              <a:off x="381000" y="1154500"/>
              <a:ext cx="3333900" cy="3551100"/>
            </a:xfrm>
            <a:prstGeom prst="roundRect">
              <a:avLst>
                <a:gd name="adj" fmla="val 5714"/>
              </a:avLst>
            </a:prstGeom>
            <a:noFill/>
            <a:ln>
              <a:noFill/>
            </a:ln>
          </p:spPr>
        </p:pic>
        <p:sp>
          <p:nvSpPr>
            <p:cNvPr id="217" name="Google Shape;217;p35"/>
            <p:cNvSpPr/>
            <p:nvPr/>
          </p:nvSpPr>
          <p:spPr>
            <a:xfrm>
              <a:off x="4191000" y="1428750"/>
              <a:ext cx="4572000" cy="2857500"/>
            </a:xfrm>
            <a:prstGeom prst="roundRect">
              <a:avLst>
                <a:gd name="adj" fmla="val 5000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35"/>
            <p:cNvSpPr/>
            <p:nvPr/>
          </p:nvSpPr>
          <p:spPr>
            <a:xfrm>
              <a:off x="4191000" y="2000250"/>
              <a:ext cx="47700" cy="1714500"/>
            </a:xfrm>
            <a:prstGeom prst="rect">
              <a:avLst/>
            </a:prstGeom>
            <a:solidFill>
              <a:srgbClr val="39A9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35"/>
            <p:cNvSpPr txBox="1"/>
            <p:nvPr/>
          </p:nvSpPr>
          <p:spPr>
            <a:xfrm>
              <a:off x="4429125" y="1571625"/>
              <a:ext cx="41433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419" sz="1480">
                  <a:solidFill>
                    <a:srgbClr val="3F3F3F"/>
                  </a:solidFill>
                </a:rPr>
                <a:t>El sector artesanal colombiano, aunque es un pilar de la identidad nacional, enfrenta una </a:t>
              </a:r>
              <a:r>
                <a:rPr lang="es-419" sz="1480" b="1">
                  <a:solidFill>
                    <a:srgbClr val="39A900"/>
                  </a:solidFill>
                  <a:latin typeface="Arial"/>
                  <a:ea typeface="Arial"/>
                  <a:cs typeface="Arial"/>
                  <a:sym typeface="Arial"/>
                </a:rPr>
                <a:t>brecha crítica de comercialización</a:t>
              </a:r>
              <a:r>
                <a:rPr lang="es-419" sz="1480">
                  <a:solidFill>
                    <a:srgbClr val="3F3F3F"/>
                  </a:solidFill>
                </a:rPr>
                <a:t> limitada a canales físicos y temporales.</a:t>
              </a:r>
              <a:endParaRPr sz="1480">
                <a:solidFill>
                  <a:srgbClr val="3F3F3F"/>
                </a:solidFill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419" sz="1480">
                  <a:solidFill>
                    <a:srgbClr val="3F3F3F"/>
                  </a:solidFill>
                </a:rPr>
                <a:t>El Ministerio de Industria y Comercio prioriza la comercialización y reinversión de productos artesanales en mercados locales e internacionales como una problemática urgente.</a:t>
              </a:r>
              <a:endParaRPr sz="1480">
                <a:solidFill>
                  <a:srgbClr val="3F3F3F"/>
                </a:solidFill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419" sz="925" b="1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Fuente:</a:t>
              </a:r>
              <a:endParaRPr sz="925" b="1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419" sz="833" i="1">
                  <a:solidFill>
                    <a:srgbClr val="94A3B8"/>
                  </a:solidFill>
                </a:rPr>
                <a:t>Artesanías de Colombia &amp; MinCIT (2024). Plan Estratégico e Informe de Problemáticas Priorizadas del Sector Artesanal.</a:t>
              </a:r>
              <a:endParaRPr sz="1600">
                <a:solidFill>
                  <a:srgbClr val="3F3F3F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/>
        </p:nvSpPr>
        <p:spPr>
          <a:xfrm>
            <a:off x="366050" y="227925"/>
            <a:ext cx="76200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 b="1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Justificación</a:t>
            </a:r>
            <a:endParaRPr sz="3200" b="1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26" name="Google Shape;226;p36"/>
          <p:cNvSpPr/>
          <p:nvPr/>
        </p:nvSpPr>
        <p:spPr>
          <a:xfrm>
            <a:off x="0" y="809625"/>
            <a:ext cx="9144000" cy="76200"/>
          </a:xfrm>
          <a:prstGeom prst="rect">
            <a:avLst/>
          </a:prstGeom>
          <a:solidFill>
            <a:srgbClr val="39A90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7" name="Google Shape;227;p36"/>
          <p:cNvGrpSpPr/>
          <p:nvPr/>
        </p:nvGrpSpPr>
        <p:grpSpPr>
          <a:xfrm>
            <a:off x="285750" y="1143000"/>
            <a:ext cx="4191000" cy="2952900"/>
            <a:chOff x="285750" y="1143000"/>
            <a:chExt cx="4191000" cy="2952900"/>
          </a:xfrm>
        </p:grpSpPr>
        <p:sp>
          <p:nvSpPr>
            <p:cNvPr id="228" name="Google Shape;228;p36"/>
            <p:cNvSpPr/>
            <p:nvPr/>
          </p:nvSpPr>
          <p:spPr>
            <a:xfrm>
              <a:off x="285750" y="1143000"/>
              <a:ext cx="4191000" cy="295290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36"/>
            <p:cNvSpPr txBox="1"/>
            <p:nvPr/>
          </p:nvSpPr>
          <p:spPr>
            <a:xfrm>
              <a:off x="571500" y="1333500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400" b="1">
                  <a:solidFill>
                    <a:srgbClr val="475569"/>
                  </a:solidFill>
                  <a:latin typeface="Urbanist"/>
                  <a:ea typeface="Urbanist"/>
                  <a:cs typeface="Urbanist"/>
                  <a:sym typeface="Urbanist"/>
                </a:rPr>
                <a:t>Poder Económico (VAB %)</a:t>
              </a:r>
              <a:endParaRPr sz="1400" b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230" name="Google Shape;230;p36"/>
            <p:cNvGrpSpPr/>
            <p:nvPr/>
          </p:nvGrpSpPr>
          <p:grpSpPr>
            <a:xfrm>
              <a:off x="571500" y="1714500"/>
              <a:ext cx="3619500" cy="323850"/>
              <a:chOff x="0" y="0"/>
              <a:chExt cx="3619500" cy="323850"/>
            </a:xfrm>
          </p:grpSpPr>
          <p:sp>
            <p:nvSpPr>
              <p:cNvPr id="231" name="Google Shape;231;p36"/>
              <p:cNvSpPr txBox="1"/>
              <p:nvPr/>
            </p:nvSpPr>
            <p:spPr>
              <a:xfrm>
                <a:off x="0" y="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419" sz="1000" b="1">
                    <a:solidFill>
                      <a:srgbClr val="1E293B"/>
                    </a:solidFill>
                    <a:latin typeface="Lato"/>
                    <a:ea typeface="Lato"/>
                    <a:cs typeface="Lato"/>
                    <a:sym typeface="Lato"/>
                  </a:rPr>
                  <a:t>Software y Medios Digitales (71.4%)</a:t>
                </a:r>
                <a:endParaRPr sz="1000" b="1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2" name="Google Shape;232;p36"/>
              <p:cNvSpPr/>
              <p:nvPr/>
            </p:nvSpPr>
            <p:spPr>
              <a:xfrm>
                <a:off x="0" y="209550"/>
                <a:ext cx="34290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36"/>
              <p:cNvSpPr/>
              <p:nvPr/>
            </p:nvSpPr>
            <p:spPr>
              <a:xfrm>
                <a:off x="0" y="209550"/>
                <a:ext cx="24480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0F172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36"/>
            <p:cNvGrpSpPr/>
            <p:nvPr/>
          </p:nvGrpSpPr>
          <p:grpSpPr>
            <a:xfrm>
              <a:off x="571500" y="2190750"/>
              <a:ext cx="3619500" cy="323850"/>
              <a:chOff x="0" y="0"/>
              <a:chExt cx="3619500" cy="323850"/>
            </a:xfrm>
          </p:grpSpPr>
          <p:sp>
            <p:nvSpPr>
              <p:cNvPr id="235" name="Google Shape;235;p36"/>
              <p:cNvSpPr txBox="1"/>
              <p:nvPr/>
            </p:nvSpPr>
            <p:spPr>
              <a:xfrm>
                <a:off x="0" y="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419" sz="1000" b="1">
                    <a:solidFill>
                      <a:srgbClr val="1E293B"/>
                    </a:solidFill>
                    <a:latin typeface="Lato"/>
                    <a:ea typeface="Lato"/>
                    <a:cs typeface="Lato"/>
                    <a:sym typeface="Lato"/>
                  </a:rPr>
                  <a:t>Artes y Patrimonio (11.4%)</a:t>
                </a:r>
                <a:endParaRPr sz="1000" b="1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6" name="Google Shape;236;p36"/>
              <p:cNvSpPr/>
              <p:nvPr/>
            </p:nvSpPr>
            <p:spPr>
              <a:xfrm>
                <a:off x="0" y="209550"/>
                <a:ext cx="34290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36"/>
              <p:cNvSpPr/>
              <p:nvPr/>
            </p:nvSpPr>
            <p:spPr>
              <a:xfrm>
                <a:off x="0" y="209550"/>
                <a:ext cx="3906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FBBF2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8" name="Google Shape;238;p36"/>
            <p:cNvGrpSpPr/>
            <p:nvPr/>
          </p:nvGrpSpPr>
          <p:grpSpPr>
            <a:xfrm>
              <a:off x="571500" y="2667000"/>
              <a:ext cx="3619500" cy="323850"/>
              <a:chOff x="0" y="0"/>
              <a:chExt cx="3619500" cy="323850"/>
            </a:xfrm>
          </p:grpSpPr>
          <p:sp>
            <p:nvSpPr>
              <p:cNvPr id="239" name="Google Shape;239;p36"/>
              <p:cNvSpPr txBox="1"/>
              <p:nvPr/>
            </p:nvSpPr>
            <p:spPr>
              <a:xfrm>
                <a:off x="0" y="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419" sz="1000" b="1">
                    <a:solidFill>
                      <a:srgbClr val="1E293B"/>
                    </a:solidFill>
                    <a:latin typeface="Lato"/>
                    <a:ea typeface="Lato"/>
                    <a:cs typeface="Lato"/>
                    <a:sym typeface="Lato"/>
                  </a:rPr>
                  <a:t>Diseño y Publicidad (17.2%)</a:t>
                </a:r>
                <a:endParaRPr sz="1000" b="1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0" name="Google Shape;240;p36"/>
              <p:cNvSpPr/>
              <p:nvPr/>
            </p:nvSpPr>
            <p:spPr>
              <a:xfrm>
                <a:off x="0" y="209550"/>
                <a:ext cx="34290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36"/>
              <p:cNvSpPr/>
              <p:nvPr/>
            </p:nvSpPr>
            <p:spPr>
              <a:xfrm>
                <a:off x="0" y="209550"/>
                <a:ext cx="5907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47556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2" name="Google Shape;242;p36"/>
            <p:cNvSpPr/>
            <p:nvPr/>
          </p:nvSpPr>
          <p:spPr>
            <a:xfrm>
              <a:off x="571500" y="3286125"/>
              <a:ext cx="3619500" cy="38100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36"/>
            <p:cNvSpPr txBox="1"/>
            <p:nvPr/>
          </p:nvSpPr>
          <p:spPr>
            <a:xfrm>
              <a:off x="666750" y="3286125"/>
              <a:ext cx="342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00" b="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El Software concentra el capital financiero, pero opera aislado del patrimonio. </a:t>
              </a:r>
              <a:r>
                <a:rPr lang="es-419" sz="10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El reporte anual informa de un promedio de 20 billones anuales.</a:t>
              </a:r>
              <a:endParaRPr sz="10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44" name="Google Shape;244;p36"/>
          <p:cNvGrpSpPr/>
          <p:nvPr/>
        </p:nvGrpSpPr>
        <p:grpSpPr>
          <a:xfrm>
            <a:off x="4667250" y="1143000"/>
            <a:ext cx="4191000" cy="2952900"/>
            <a:chOff x="4667250" y="1143000"/>
            <a:chExt cx="4191000" cy="2952900"/>
          </a:xfrm>
        </p:grpSpPr>
        <p:sp>
          <p:nvSpPr>
            <p:cNvPr id="245" name="Google Shape;245;p36"/>
            <p:cNvSpPr/>
            <p:nvPr/>
          </p:nvSpPr>
          <p:spPr>
            <a:xfrm>
              <a:off x="4667250" y="1143000"/>
              <a:ext cx="4191000" cy="2952900"/>
            </a:xfrm>
            <a:prstGeom prst="roundRect">
              <a:avLst>
                <a:gd name="adj" fmla="val 5161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36"/>
            <p:cNvSpPr txBox="1"/>
            <p:nvPr/>
          </p:nvSpPr>
          <p:spPr>
            <a:xfrm>
              <a:off x="4953000" y="1333500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400" b="1">
                  <a:solidFill>
                    <a:srgbClr val="475569"/>
                  </a:solidFill>
                  <a:latin typeface="Urbanist"/>
                  <a:ea typeface="Urbanist"/>
                  <a:cs typeface="Urbanist"/>
                  <a:sym typeface="Urbanist"/>
                </a:rPr>
                <a:t>Impacto Social (Empleo% creaciones funcionales)</a:t>
              </a:r>
              <a:endParaRPr sz="1400" b="1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247" name="Google Shape;247;p36"/>
            <p:cNvGrpSpPr/>
            <p:nvPr/>
          </p:nvGrpSpPr>
          <p:grpSpPr>
            <a:xfrm>
              <a:off x="4953000" y="1714500"/>
              <a:ext cx="3619500" cy="323850"/>
              <a:chOff x="0" y="0"/>
              <a:chExt cx="3619500" cy="323850"/>
            </a:xfrm>
          </p:grpSpPr>
          <p:sp>
            <p:nvSpPr>
              <p:cNvPr id="248" name="Google Shape;248;p36"/>
              <p:cNvSpPr txBox="1"/>
              <p:nvPr/>
            </p:nvSpPr>
            <p:spPr>
              <a:xfrm>
                <a:off x="0" y="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419" sz="1000" b="1">
                    <a:solidFill>
                      <a:srgbClr val="1E293B"/>
                    </a:solidFill>
                    <a:latin typeface="Lato"/>
                    <a:ea typeface="Lato"/>
                    <a:cs typeface="Lato"/>
                    <a:sym typeface="Lato"/>
                  </a:rPr>
                  <a:t>Artes y Patrimonio (Artesanos) (45.4%)</a:t>
                </a:r>
                <a:endParaRPr sz="1000" b="1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9" name="Google Shape;249;p36"/>
              <p:cNvSpPr/>
              <p:nvPr/>
            </p:nvSpPr>
            <p:spPr>
              <a:xfrm>
                <a:off x="0" y="209550"/>
                <a:ext cx="34290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36"/>
              <p:cNvSpPr/>
              <p:nvPr/>
            </p:nvSpPr>
            <p:spPr>
              <a:xfrm>
                <a:off x="0" y="209550"/>
                <a:ext cx="15525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39A9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" name="Google Shape;251;p36"/>
            <p:cNvGrpSpPr/>
            <p:nvPr/>
          </p:nvGrpSpPr>
          <p:grpSpPr>
            <a:xfrm>
              <a:off x="4953000" y="2190750"/>
              <a:ext cx="3619500" cy="323850"/>
              <a:chOff x="0" y="0"/>
              <a:chExt cx="3619500" cy="323850"/>
            </a:xfrm>
          </p:grpSpPr>
          <p:sp>
            <p:nvSpPr>
              <p:cNvPr id="252" name="Google Shape;252;p36"/>
              <p:cNvSpPr txBox="1"/>
              <p:nvPr/>
            </p:nvSpPr>
            <p:spPr>
              <a:xfrm>
                <a:off x="0" y="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419" sz="1000" b="1">
                    <a:solidFill>
                      <a:srgbClr val="1E293B"/>
                    </a:solidFill>
                    <a:latin typeface="Lato"/>
                    <a:ea typeface="Lato"/>
                    <a:cs typeface="Lato"/>
                    <a:sym typeface="Lato"/>
                  </a:rPr>
                  <a:t>Creaciones Funcionales (41.5%)</a:t>
                </a:r>
                <a:endParaRPr sz="1000" b="1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3" name="Google Shape;253;p36"/>
              <p:cNvSpPr/>
              <p:nvPr/>
            </p:nvSpPr>
            <p:spPr>
              <a:xfrm>
                <a:off x="0" y="209550"/>
                <a:ext cx="34290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36"/>
              <p:cNvSpPr/>
              <p:nvPr/>
            </p:nvSpPr>
            <p:spPr>
              <a:xfrm>
                <a:off x="0" y="209550"/>
                <a:ext cx="14193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94A3B8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5" name="Google Shape;255;p36"/>
            <p:cNvGrpSpPr/>
            <p:nvPr/>
          </p:nvGrpSpPr>
          <p:grpSpPr>
            <a:xfrm>
              <a:off x="4953000" y="2667000"/>
              <a:ext cx="3619500" cy="323850"/>
              <a:chOff x="0" y="0"/>
              <a:chExt cx="3619500" cy="323850"/>
            </a:xfrm>
          </p:grpSpPr>
          <p:sp>
            <p:nvSpPr>
              <p:cNvPr id="256" name="Google Shape;256;p36"/>
              <p:cNvSpPr txBox="1"/>
              <p:nvPr/>
            </p:nvSpPr>
            <p:spPr>
              <a:xfrm>
                <a:off x="0" y="0"/>
                <a:ext cx="36195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419" sz="1000" b="1">
                    <a:solidFill>
                      <a:srgbClr val="1E293B"/>
                    </a:solidFill>
                    <a:latin typeface="Lato"/>
                    <a:ea typeface="Lato"/>
                    <a:cs typeface="Lato"/>
                    <a:sym typeface="Lato"/>
                  </a:rPr>
                  <a:t>Industrias Culturales (13.1%)</a:t>
                </a:r>
                <a:endParaRPr sz="1000" b="1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57" name="Google Shape;257;p36"/>
              <p:cNvSpPr/>
              <p:nvPr/>
            </p:nvSpPr>
            <p:spPr>
              <a:xfrm>
                <a:off x="0" y="209550"/>
                <a:ext cx="34290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F1F5F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36"/>
              <p:cNvSpPr/>
              <p:nvPr/>
            </p:nvSpPr>
            <p:spPr>
              <a:xfrm>
                <a:off x="0" y="209550"/>
                <a:ext cx="447600" cy="114300"/>
              </a:xfrm>
              <a:prstGeom prst="roundRect">
                <a:avLst>
                  <a:gd name="adj" fmla="val 50000"/>
                </a:avLst>
              </a:prstGeom>
              <a:solidFill>
                <a:srgbClr val="475569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9" name="Google Shape;259;p36"/>
            <p:cNvSpPr/>
            <p:nvPr/>
          </p:nvSpPr>
          <p:spPr>
            <a:xfrm>
              <a:off x="4953000" y="3286125"/>
              <a:ext cx="3619500" cy="381000"/>
            </a:xfrm>
            <a:prstGeom prst="roundRect">
              <a:avLst>
                <a:gd name="adj" fmla="val 20000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6"/>
            <p:cNvSpPr txBox="1"/>
            <p:nvPr/>
          </p:nvSpPr>
          <p:spPr>
            <a:xfrm>
              <a:off x="5048250" y="3286125"/>
              <a:ext cx="342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00" b="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Casi la mitad del empleo depende de las artes, pero con la menor retribución del VAB.</a:t>
              </a:r>
              <a:endParaRPr sz="1000" b="1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261" name="Google Shape;261;p36"/>
          <p:cNvSpPr/>
          <p:nvPr/>
        </p:nvSpPr>
        <p:spPr>
          <a:xfrm>
            <a:off x="285750" y="4248825"/>
            <a:ext cx="8572500" cy="571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36"/>
          <p:cNvSpPr txBox="1"/>
          <p:nvPr/>
        </p:nvSpPr>
        <p:spPr>
          <a:xfrm>
            <a:off x="476250" y="4214888"/>
            <a:ext cx="8191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 b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VIVA es el puente tecnológico que inyecta la rentabilidad del </a:t>
            </a:r>
            <a:r>
              <a:rPr lang="es-419" sz="1300" b="1">
                <a:solidFill>
                  <a:srgbClr val="39A900"/>
                </a:solidFill>
                <a:latin typeface="Urbanist"/>
                <a:ea typeface="Urbanist"/>
                <a:cs typeface="Urbanist"/>
                <a:sym typeface="Urbanist"/>
              </a:rPr>
              <a:t>Software (71.4%)</a:t>
            </a:r>
            <a:r>
              <a:rPr lang="es-419" sz="1300" b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al corazón social del país: los </a:t>
            </a:r>
            <a:r>
              <a:rPr lang="es-419" sz="1300" b="1">
                <a:solidFill>
                  <a:srgbClr val="39A900"/>
                </a:solidFill>
                <a:latin typeface="Urbanist"/>
                <a:ea typeface="Urbanist"/>
                <a:cs typeface="Urbanist"/>
                <a:sym typeface="Urbanist"/>
              </a:rPr>
              <a:t>Artesanos (45.4%) </a:t>
            </a:r>
            <a:r>
              <a:rPr lang="es-419" sz="1300" b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300" b="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3" name="Google Shape;263;p36"/>
          <p:cNvSpPr txBox="1"/>
          <p:nvPr/>
        </p:nvSpPr>
        <p:spPr>
          <a:xfrm>
            <a:off x="285750" y="4905375"/>
            <a:ext cx="857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 b="0" i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Fuente: DANE - Cuenta Satélite de Economía Cultural y Creativa (CSECC) 2024p.</a:t>
            </a:r>
            <a:endParaRPr sz="800" b="0" i="1">
              <a:solidFill>
                <a:srgbClr val="94A3B8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"/>
          <p:cNvSpPr txBox="1"/>
          <p:nvPr/>
        </p:nvSpPr>
        <p:spPr>
          <a:xfrm>
            <a:off x="191013" y="340047"/>
            <a:ext cx="724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100"/>
          </a:p>
        </p:txBody>
      </p:sp>
      <p:pic>
        <p:nvPicPr>
          <p:cNvPr id="270" name="Google Shape;27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3675" y="2002046"/>
            <a:ext cx="3617363" cy="196525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7"/>
          <p:cNvSpPr/>
          <p:nvPr/>
        </p:nvSpPr>
        <p:spPr>
          <a:xfrm>
            <a:off x="5112925" y="1760924"/>
            <a:ext cx="476400" cy="4764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" name="Google Shape;274;p37"/>
          <p:cNvGrpSpPr/>
          <p:nvPr/>
        </p:nvGrpSpPr>
        <p:grpSpPr>
          <a:xfrm>
            <a:off x="191025" y="1261510"/>
            <a:ext cx="4572000" cy="3364421"/>
            <a:chOff x="4191000" y="1428750"/>
            <a:chExt cx="4572000" cy="2857500"/>
          </a:xfrm>
        </p:grpSpPr>
        <p:sp>
          <p:nvSpPr>
            <p:cNvPr id="275" name="Google Shape;275;p37"/>
            <p:cNvSpPr/>
            <p:nvPr/>
          </p:nvSpPr>
          <p:spPr>
            <a:xfrm>
              <a:off x="4191000" y="1428750"/>
              <a:ext cx="4572000" cy="2857500"/>
            </a:xfrm>
            <a:prstGeom prst="roundRect">
              <a:avLst>
                <a:gd name="adj" fmla="val 5000"/>
              </a:avLst>
            </a:prstGeom>
            <a:solidFill>
              <a:srgbClr val="F8F9F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37"/>
            <p:cNvSpPr/>
            <p:nvPr/>
          </p:nvSpPr>
          <p:spPr>
            <a:xfrm>
              <a:off x="4191000" y="2000250"/>
              <a:ext cx="47700" cy="1714500"/>
            </a:xfrm>
            <a:prstGeom prst="rect">
              <a:avLst/>
            </a:prstGeom>
            <a:solidFill>
              <a:srgbClr val="39A9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" name="Google Shape;277;p37"/>
          <p:cNvSpPr txBox="1"/>
          <p:nvPr/>
        </p:nvSpPr>
        <p:spPr>
          <a:xfrm>
            <a:off x="472446" y="2154863"/>
            <a:ext cx="4145400" cy="15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215900" marR="0" lvl="0" indent="-215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Impulsar la competitividad de los productores de artesanías y artículos de naturaleza autóctona en Colombia, mediante el desarrollo de una plataforma de comercio electrónico que integre herramientas de gestión</a:t>
            </a:r>
            <a:r>
              <a:rPr lang="es-41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comercial</a:t>
            </a:r>
            <a: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permitiendo la transición desde modelos de venta tradicionales hacia mercados estructurados</a:t>
            </a:r>
            <a:r>
              <a:rPr lang="es-41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8"/>
          <p:cNvSpPr txBox="1"/>
          <p:nvPr/>
        </p:nvSpPr>
        <p:spPr>
          <a:xfrm>
            <a:off x="191013" y="340047"/>
            <a:ext cx="724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Requerimientos</a:t>
            </a:r>
            <a:endParaRPr sz="1100"/>
          </a:p>
        </p:txBody>
      </p:sp>
      <p:grpSp>
        <p:nvGrpSpPr>
          <p:cNvPr id="284" name="Google Shape;284;p38"/>
          <p:cNvGrpSpPr/>
          <p:nvPr/>
        </p:nvGrpSpPr>
        <p:grpSpPr>
          <a:xfrm>
            <a:off x="476250" y="1428750"/>
            <a:ext cx="4953150" cy="1428900"/>
            <a:chOff x="476250" y="1428750"/>
            <a:chExt cx="4953150" cy="1428900"/>
          </a:xfrm>
        </p:grpSpPr>
        <p:sp>
          <p:nvSpPr>
            <p:cNvPr id="285" name="Google Shape;285;p38"/>
            <p:cNvSpPr/>
            <p:nvPr/>
          </p:nvSpPr>
          <p:spPr>
            <a:xfrm>
              <a:off x="476250" y="1428750"/>
              <a:ext cx="2381400" cy="1428900"/>
            </a:xfrm>
            <a:prstGeom prst="roundRect">
              <a:avLst>
                <a:gd name="adj" fmla="val 10000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8"/>
            <p:cNvSpPr txBox="1"/>
            <p:nvPr/>
          </p:nvSpPr>
          <p:spPr>
            <a:xfrm>
              <a:off x="476250" y="1428750"/>
              <a:ext cx="2381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4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Total Requerimientos</a:t>
              </a:r>
              <a:endParaRPr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419" sz="3600" b="1">
                  <a:solidFill>
                    <a:srgbClr val="39A900"/>
                  </a:solidFill>
                  <a:latin typeface="Calibri"/>
                  <a:ea typeface="Calibri"/>
                  <a:cs typeface="Calibri"/>
                  <a:sym typeface="Calibri"/>
                </a:rPr>
                <a:t>988</a:t>
              </a:r>
              <a:endParaRPr sz="3600" b="1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38"/>
            <p:cNvSpPr/>
            <p:nvPr/>
          </p:nvSpPr>
          <p:spPr>
            <a:xfrm>
              <a:off x="3048000" y="1428750"/>
              <a:ext cx="2381400" cy="1428900"/>
            </a:xfrm>
            <a:prstGeom prst="roundRect">
              <a:avLst>
                <a:gd name="adj" fmla="val 10000"/>
              </a:avLst>
            </a:prstGeom>
            <a:solidFill>
              <a:srgbClr val="F8F9FA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38"/>
            <p:cNvSpPr txBox="1"/>
            <p:nvPr/>
          </p:nvSpPr>
          <p:spPr>
            <a:xfrm>
              <a:off x="3048000" y="1428750"/>
              <a:ext cx="2381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4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Desarrollados</a:t>
              </a:r>
              <a:endParaRPr sz="14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419" sz="3600" b="1">
                  <a:solidFill>
                    <a:srgbClr val="0F172A"/>
                  </a:solidFill>
                  <a:latin typeface="Calibri"/>
                  <a:ea typeface="Calibri"/>
                  <a:cs typeface="Calibri"/>
                  <a:sym typeface="Calibri"/>
                </a:rPr>
                <a:t>980</a:t>
              </a:r>
              <a:endParaRPr sz="3600" b="1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38"/>
          <p:cNvGrpSpPr/>
          <p:nvPr/>
        </p:nvGrpSpPr>
        <p:grpSpPr>
          <a:xfrm>
            <a:off x="1820673" y="2998184"/>
            <a:ext cx="1814474" cy="1814474"/>
            <a:chOff x="5666339" y="2507228"/>
            <a:chExt cx="3048000" cy="3048000"/>
          </a:xfrm>
        </p:grpSpPr>
        <p:sp>
          <p:nvSpPr>
            <p:cNvPr id="290" name="Google Shape;290;p38"/>
            <p:cNvSpPr/>
            <p:nvPr/>
          </p:nvSpPr>
          <p:spPr>
            <a:xfrm>
              <a:off x="5856839" y="2792953"/>
              <a:ext cx="2667000" cy="26670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13400" cap="flat" cmpd="sng">
              <a:solidFill>
                <a:srgbClr val="F1F5F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91" name="Google Shape;291;p3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61589" y="2697724"/>
              <a:ext cx="2857500" cy="2857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" name="Google Shape;292;p38"/>
            <p:cNvSpPr txBox="1"/>
            <p:nvPr/>
          </p:nvSpPr>
          <p:spPr>
            <a:xfrm>
              <a:off x="5666339" y="2507228"/>
              <a:ext cx="30480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52" b="1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Cumplimiento</a:t>
              </a:r>
              <a:endParaRPr sz="952" b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2857" b="1">
                  <a:solidFill>
                    <a:srgbClr val="39A900"/>
                  </a:solidFill>
                  <a:latin typeface="Calibri"/>
                  <a:ea typeface="Calibri"/>
                  <a:cs typeface="Calibri"/>
                  <a:sym typeface="Calibri"/>
                </a:rPr>
                <a:t>99.1%</a:t>
              </a:r>
              <a:endParaRPr sz="2857" b="1">
                <a:solidFill>
                  <a:srgbClr val="39A9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3" name="Google Shape;293;p38"/>
          <p:cNvSpPr/>
          <p:nvPr/>
        </p:nvSpPr>
        <p:spPr>
          <a:xfrm>
            <a:off x="6730600" y="1468850"/>
            <a:ext cx="1905000" cy="285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rPr>
              <a:t>Acceso al script</a:t>
            </a:r>
            <a:endParaRPr sz="1000" b="1">
              <a:solidFill>
                <a:srgbClr val="64748B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000" b="1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rPr>
              <a:t>Acceso al script</a:t>
            </a:r>
            <a:endParaRPr sz="1000" b="1">
              <a:solidFill>
                <a:srgbClr val="64748B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id="294" name="Google Shape;294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04600" y="2336400"/>
            <a:ext cx="1557000" cy="155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8"/>
          <p:cNvSpPr txBox="1"/>
          <p:nvPr/>
        </p:nvSpPr>
        <p:spPr>
          <a:xfrm>
            <a:off x="6730600" y="1786900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rPr>
              <a:t>Acceso al documento</a:t>
            </a:r>
            <a:endParaRPr sz="1000" b="1">
              <a:solidFill>
                <a:srgbClr val="64748B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9"/>
          <p:cNvSpPr txBox="1"/>
          <p:nvPr/>
        </p:nvSpPr>
        <p:spPr>
          <a:xfrm>
            <a:off x="191013" y="340047"/>
            <a:ext cx="724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sz="1100"/>
          </a:p>
        </p:txBody>
      </p:sp>
      <p:sp>
        <p:nvSpPr>
          <p:cNvPr id="302" name="Google Shape;302;p39"/>
          <p:cNvSpPr/>
          <p:nvPr/>
        </p:nvSpPr>
        <p:spPr>
          <a:xfrm>
            <a:off x="6858000" y="1333500"/>
            <a:ext cx="1905000" cy="285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3" name="Google Shape;303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53250" y="1809750"/>
            <a:ext cx="1714500" cy="1714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4" name="Google Shape;304;p39"/>
          <p:cNvGrpSpPr/>
          <p:nvPr/>
        </p:nvGrpSpPr>
        <p:grpSpPr>
          <a:xfrm>
            <a:off x="381000" y="1333500"/>
            <a:ext cx="2000100" cy="1143000"/>
            <a:chOff x="381000" y="1333500"/>
            <a:chExt cx="2000100" cy="1143000"/>
          </a:xfrm>
        </p:grpSpPr>
        <p:sp>
          <p:nvSpPr>
            <p:cNvPr id="305" name="Google Shape;305;p39"/>
            <p:cNvSpPr/>
            <p:nvPr/>
          </p:nvSpPr>
          <p:spPr>
            <a:xfrm>
              <a:off x="381000" y="1333500"/>
              <a:ext cx="20001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9"/>
            <p:cNvSpPr txBox="1"/>
            <p:nvPr/>
          </p:nvSpPr>
          <p:spPr>
            <a:xfrm>
              <a:off x="381000" y="1333500"/>
              <a:ext cx="2000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 b="0">
                  <a:solidFill>
                    <a:srgbClr val="64748B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rPr>
                <a:t>Total Tablas</a:t>
              </a:r>
              <a:endParaRPr sz="1100" b="0">
                <a:solidFill>
                  <a:srgbClr val="64748B"/>
                </a:solidFill>
                <a:latin typeface="Work Sans SemiBold"/>
                <a:ea typeface="Work Sans SemiBold"/>
                <a:cs typeface="Work Sans SemiBold"/>
                <a:sym typeface="Work Sans SemiBold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419" sz="3600" b="1">
                  <a:solidFill>
                    <a:srgbClr val="39A900"/>
                  </a:solidFill>
                  <a:latin typeface="Work Sans"/>
                  <a:ea typeface="Work Sans"/>
                  <a:cs typeface="Work Sans"/>
                  <a:sym typeface="Work Sans"/>
                </a:rPr>
                <a:t>29</a:t>
              </a:r>
              <a:endParaRPr sz="3600" b="1">
                <a:solidFill>
                  <a:srgbClr val="39A900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307" name="Google Shape;307;p39"/>
          <p:cNvGrpSpPr/>
          <p:nvPr/>
        </p:nvGrpSpPr>
        <p:grpSpPr>
          <a:xfrm>
            <a:off x="2524125" y="1333500"/>
            <a:ext cx="2000100" cy="1143000"/>
            <a:chOff x="2524125" y="1333500"/>
            <a:chExt cx="2000100" cy="1143000"/>
          </a:xfrm>
        </p:grpSpPr>
        <p:sp>
          <p:nvSpPr>
            <p:cNvPr id="308" name="Google Shape;308;p39"/>
            <p:cNvSpPr/>
            <p:nvPr/>
          </p:nvSpPr>
          <p:spPr>
            <a:xfrm>
              <a:off x="2524125" y="1333500"/>
              <a:ext cx="20001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9"/>
            <p:cNvSpPr txBox="1"/>
            <p:nvPr/>
          </p:nvSpPr>
          <p:spPr>
            <a:xfrm>
              <a:off x="2524125" y="1333500"/>
              <a:ext cx="2000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 b="0">
                  <a:solidFill>
                    <a:srgbClr val="64748B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rPr>
                <a:t>Funciones PL/pgSQL</a:t>
              </a:r>
              <a:endParaRPr sz="1100" b="0">
                <a:solidFill>
                  <a:srgbClr val="64748B"/>
                </a:solidFill>
                <a:latin typeface="Work Sans SemiBold"/>
                <a:ea typeface="Work Sans SemiBold"/>
                <a:cs typeface="Work Sans SemiBold"/>
                <a:sym typeface="Work Sans SemiBold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419" sz="3600" b="1">
                  <a:solidFill>
                    <a:srgbClr val="0F172A"/>
                  </a:solidFill>
                  <a:latin typeface="Work Sans"/>
                  <a:ea typeface="Work Sans"/>
                  <a:cs typeface="Work Sans"/>
                  <a:sym typeface="Work Sans"/>
                </a:rPr>
                <a:t>90</a:t>
              </a:r>
              <a:endParaRPr sz="3600" b="1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310" name="Google Shape;310;p39"/>
          <p:cNvGrpSpPr/>
          <p:nvPr/>
        </p:nvGrpSpPr>
        <p:grpSpPr>
          <a:xfrm>
            <a:off x="4667250" y="1333500"/>
            <a:ext cx="2000100" cy="1143000"/>
            <a:chOff x="4667250" y="1333500"/>
            <a:chExt cx="2000100" cy="1143000"/>
          </a:xfrm>
        </p:grpSpPr>
        <p:sp>
          <p:nvSpPr>
            <p:cNvPr id="311" name="Google Shape;311;p39"/>
            <p:cNvSpPr/>
            <p:nvPr/>
          </p:nvSpPr>
          <p:spPr>
            <a:xfrm>
              <a:off x="4667250" y="1333500"/>
              <a:ext cx="2000100" cy="1143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9"/>
            <p:cNvSpPr txBox="1"/>
            <p:nvPr/>
          </p:nvSpPr>
          <p:spPr>
            <a:xfrm>
              <a:off x="4667250" y="1333500"/>
              <a:ext cx="20001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 b="0">
                  <a:solidFill>
                    <a:srgbClr val="64748B"/>
                  </a:solidFill>
                  <a:latin typeface="Work Sans SemiBold"/>
                  <a:ea typeface="Work Sans SemiBold"/>
                  <a:cs typeface="Work Sans SemiBold"/>
                  <a:sym typeface="Work Sans SemiBold"/>
                </a:rPr>
                <a:t>Total Triggers</a:t>
              </a:r>
              <a:endParaRPr sz="1100" b="0">
                <a:solidFill>
                  <a:srgbClr val="64748B"/>
                </a:solidFill>
                <a:latin typeface="Work Sans SemiBold"/>
                <a:ea typeface="Work Sans SemiBold"/>
                <a:cs typeface="Work Sans SemiBold"/>
                <a:sym typeface="Work Sans SemiBold"/>
              </a:endParaRPr>
            </a:p>
            <a:p>
              <a:pPr marL="0" lvl="0" indent="0" algn="ctr" rtl="0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s-419" sz="3600" b="1">
                  <a:solidFill>
                    <a:srgbClr val="0F172A"/>
                  </a:solidFill>
                  <a:latin typeface="Work Sans"/>
                  <a:ea typeface="Work Sans"/>
                  <a:cs typeface="Work Sans"/>
                  <a:sym typeface="Work Sans"/>
                </a:rPr>
                <a:t>4</a:t>
              </a:r>
              <a:endParaRPr sz="3600" b="1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313" name="Google Shape;313;p39"/>
          <p:cNvGrpSpPr/>
          <p:nvPr/>
        </p:nvGrpSpPr>
        <p:grpSpPr>
          <a:xfrm>
            <a:off x="380925" y="2762100"/>
            <a:ext cx="6286500" cy="1524000"/>
            <a:chOff x="381000" y="2667000"/>
            <a:chExt cx="6286500" cy="1524000"/>
          </a:xfrm>
        </p:grpSpPr>
        <p:sp>
          <p:nvSpPr>
            <p:cNvPr id="314" name="Google Shape;314;p39"/>
            <p:cNvSpPr/>
            <p:nvPr/>
          </p:nvSpPr>
          <p:spPr>
            <a:xfrm>
              <a:off x="381000" y="2667000"/>
              <a:ext cx="6286500" cy="1524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9"/>
            <p:cNvSpPr txBox="1"/>
            <p:nvPr/>
          </p:nvSpPr>
          <p:spPr>
            <a:xfrm>
              <a:off x="666750" y="2809875"/>
              <a:ext cx="5715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400" b="1">
                  <a:solidFill>
                    <a:srgbClr val="475569"/>
                  </a:solidFill>
                  <a:latin typeface="Work Sans"/>
                  <a:ea typeface="Work Sans"/>
                  <a:cs typeface="Work Sans"/>
                  <a:sym typeface="Work Sans"/>
                </a:rPr>
                <a:t>Distribución de Tablas</a:t>
              </a:r>
              <a:endParaRPr sz="1400" b="1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16" name="Google Shape;316;p39"/>
            <p:cNvSpPr/>
            <p:nvPr/>
          </p:nvSpPr>
          <p:spPr>
            <a:xfrm>
              <a:off x="666750" y="3238500"/>
              <a:ext cx="5715000" cy="228600"/>
            </a:xfrm>
            <a:prstGeom prst="roundRect">
              <a:avLst>
                <a:gd name="adj" fmla="val 50000"/>
              </a:avLst>
            </a:prstGeom>
            <a:solidFill>
              <a:srgbClr val="F1F5F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9"/>
            <p:cNvSpPr/>
            <p:nvPr/>
          </p:nvSpPr>
          <p:spPr>
            <a:xfrm>
              <a:off x="666750" y="3238500"/>
              <a:ext cx="2762400" cy="228600"/>
            </a:xfrm>
            <a:prstGeom prst="roundRect">
              <a:avLst>
                <a:gd name="adj" fmla="val 50000"/>
              </a:avLst>
            </a:prstGeom>
            <a:solidFill>
              <a:srgbClr val="39A900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9"/>
            <p:cNvSpPr/>
            <p:nvPr/>
          </p:nvSpPr>
          <p:spPr>
            <a:xfrm>
              <a:off x="3429000" y="3238500"/>
              <a:ext cx="2952900" cy="228600"/>
            </a:xfrm>
            <a:prstGeom prst="roundRect">
              <a:avLst>
                <a:gd name="adj" fmla="val 50000"/>
              </a:avLst>
            </a:prstGeom>
            <a:solidFill>
              <a:srgbClr val="0F172A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9"/>
            <p:cNvSpPr txBox="1"/>
            <p:nvPr/>
          </p:nvSpPr>
          <p:spPr>
            <a:xfrm>
              <a:off x="666750" y="3571875"/>
              <a:ext cx="2762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00" b="1">
                  <a:solidFill>
                    <a:srgbClr val="475569"/>
                  </a:solidFill>
                  <a:latin typeface="Work Sans"/>
                  <a:ea typeface="Work Sans"/>
                  <a:cs typeface="Work Sans"/>
                  <a:sym typeface="Work Sans"/>
                </a:rPr>
                <a:t>Tablas Maestras: 14</a:t>
              </a:r>
              <a:endParaRPr sz="1000" b="1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00">
                  <a:solidFill>
                    <a:srgbClr val="94A3B8"/>
                  </a:solidFill>
                  <a:latin typeface="Work Sans"/>
                  <a:ea typeface="Work Sans"/>
                  <a:cs typeface="Work Sans"/>
                  <a:sym typeface="Work Sans"/>
                </a:rPr>
                <a:t>Datos de referencia y configuración</a:t>
              </a:r>
              <a:endParaRPr sz="900">
                <a:solidFill>
                  <a:srgbClr val="94A3B8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20" name="Google Shape;320;p39"/>
            <p:cNvSpPr txBox="1"/>
            <p:nvPr/>
          </p:nvSpPr>
          <p:spPr>
            <a:xfrm>
              <a:off x="3619500" y="3571875"/>
              <a:ext cx="2762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000" b="1">
                  <a:solidFill>
                    <a:srgbClr val="475569"/>
                  </a:solidFill>
                  <a:latin typeface="Work Sans"/>
                  <a:ea typeface="Work Sans"/>
                  <a:cs typeface="Work Sans"/>
                  <a:sym typeface="Work Sans"/>
                </a:rPr>
                <a:t>Tablas Transaccionales: 15</a:t>
              </a:r>
              <a:endParaRPr sz="1000" b="1">
                <a:solidFill>
                  <a:srgbClr val="475569"/>
                </a:solidFill>
                <a:latin typeface="Work Sans"/>
                <a:ea typeface="Work Sans"/>
                <a:cs typeface="Work Sans"/>
                <a:sym typeface="Work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900">
                  <a:solidFill>
                    <a:srgbClr val="94A3B8"/>
                  </a:solidFill>
                  <a:latin typeface="Work Sans"/>
                  <a:ea typeface="Work Sans"/>
                  <a:cs typeface="Work Sans"/>
                  <a:sym typeface="Work Sans"/>
                </a:rPr>
                <a:t>Registro de operaciones y movimientos</a:t>
              </a:r>
              <a:endParaRPr sz="900">
                <a:solidFill>
                  <a:srgbClr val="94A3B8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sp>
        <p:nvSpPr>
          <p:cNvPr id="321" name="Google Shape;321;p39"/>
          <p:cNvSpPr txBox="1"/>
          <p:nvPr/>
        </p:nvSpPr>
        <p:spPr>
          <a:xfrm>
            <a:off x="6858000" y="1476375"/>
            <a:ext cx="19050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rPr>
              <a:t>Acceso al script</a:t>
            </a:r>
            <a:endParaRPr sz="1000" b="1">
              <a:solidFill>
                <a:srgbClr val="64748B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0"/>
          <p:cNvSpPr txBox="1"/>
          <p:nvPr/>
        </p:nvSpPr>
        <p:spPr>
          <a:xfrm>
            <a:off x="191013" y="340047"/>
            <a:ext cx="724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Estructura del proyecto</a:t>
            </a:r>
            <a:endParaRPr sz="110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96FF652-D96B-8D12-8F1F-1A6913FA2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744" y="1144521"/>
            <a:ext cx="5702512" cy="39989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1"/>
          <p:cNvSpPr txBox="1"/>
          <p:nvPr/>
        </p:nvSpPr>
        <p:spPr>
          <a:xfrm>
            <a:off x="421913" y="252472"/>
            <a:ext cx="724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Frontend </a:t>
            </a:r>
            <a:endParaRPr sz="1100"/>
          </a:p>
        </p:txBody>
      </p:sp>
      <p:grpSp>
        <p:nvGrpSpPr>
          <p:cNvPr id="335" name="Google Shape;335;p41"/>
          <p:cNvGrpSpPr/>
          <p:nvPr/>
        </p:nvGrpSpPr>
        <p:grpSpPr>
          <a:xfrm>
            <a:off x="381000" y="1143000"/>
            <a:ext cx="4095900" cy="3619500"/>
            <a:chOff x="381000" y="1143000"/>
            <a:chExt cx="4095900" cy="3619500"/>
          </a:xfrm>
        </p:grpSpPr>
        <p:sp>
          <p:nvSpPr>
            <p:cNvPr id="336" name="Google Shape;336;p41"/>
            <p:cNvSpPr/>
            <p:nvPr/>
          </p:nvSpPr>
          <p:spPr>
            <a:xfrm>
              <a:off x="381000" y="1143000"/>
              <a:ext cx="4095900" cy="36195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1"/>
            <p:cNvSpPr txBox="1"/>
            <p:nvPr/>
          </p:nvSpPr>
          <p:spPr>
            <a:xfrm>
              <a:off x="571500" y="1333500"/>
              <a:ext cx="371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800" b="1">
                  <a:solidFill>
                    <a:srgbClr val="0F172A"/>
                  </a:solidFill>
                  <a:latin typeface="Work Sans"/>
                  <a:ea typeface="Work Sans"/>
                  <a:cs typeface="Work Sans"/>
                  <a:sym typeface="Work Sans"/>
                </a:rPr>
                <a:t>1. Client-Side (AJAX / Fetch)</a:t>
              </a:r>
              <a:endParaRPr sz="1800" b="1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38" name="Google Shape;338;p41"/>
            <p:cNvSpPr txBox="1"/>
            <p:nvPr/>
          </p:nvSpPr>
          <p:spPr>
            <a:xfrm>
              <a:off x="571500" y="1762125"/>
              <a:ext cx="371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 b="0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rPr>
                <a:t>Permite actualizaciones dinámicas sin recargar la página completa, mejorando la interactividad del usuario mediante peticiones asíncronas.</a:t>
              </a:r>
              <a:endParaRPr sz="1100" b="0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339" name="Google Shape;339;p4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1500" y="2333625"/>
              <a:ext cx="3714900" cy="2334600"/>
            </a:xfrm>
            <a:prstGeom prst="roundRect">
              <a:avLst>
                <a:gd name="adj" fmla="val 3809"/>
              </a:avLst>
            </a:prstGeom>
            <a:noFill/>
            <a:ln>
              <a:noFill/>
            </a:ln>
          </p:spPr>
        </p:pic>
      </p:grpSp>
      <p:grpSp>
        <p:nvGrpSpPr>
          <p:cNvPr id="340" name="Google Shape;340;p41"/>
          <p:cNvGrpSpPr/>
          <p:nvPr/>
        </p:nvGrpSpPr>
        <p:grpSpPr>
          <a:xfrm>
            <a:off x="4667250" y="1143000"/>
            <a:ext cx="4095900" cy="3619500"/>
            <a:chOff x="4667250" y="1143000"/>
            <a:chExt cx="4095900" cy="3619500"/>
          </a:xfrm>
        </p:grpSpPr>
        <p:sp>
          <p:nvSpPr>
            <p:cNvPr id="341" name="Google Shape;341;p41"/>
            <p:cNvSpPr/>
            <p:nvPr/>
          </p:nvSpPr>
          <p:spPr>
            <a:xfrm>
              <a:off x="4667250" y="1143000"/>
              <a:ext cx="4095900" cy="36195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1"/>
            <p:cNvSpPr txBox="1"/>
            <p:nvPr/>
          </p:nvSpPr>
          <p:spPr>
            <a:xfrm>
              <a:off x="4857750" y="1333500"/>
              <a:ext cx="371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800" b="1">
                  <a:solidFill>
                    <a:srgbClr val="0F172A"/>
                  </a:solidFill>
                  <a:latin typeface="Work Sans"/>
                  <a:ea typeface="Work Sans"/>
                  <a:cs typeface="Work Sans"/>
                  <a:sym typeface="Work Sans"/>
                </a:rPr>
                <a:t>2. Server-Side Rendering (SSR)</a:t>
              </a:r>
              <a:endParaRPr sz="1800" b="1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43" name="Google Shape;343;p41"/>
            <p:cNvSpPr txBox="1"/>
            <p:nvPr/>
          </p:nvSpPr>
          <p:spPr>
            <a:xfrm>
              <a:off x="4857750" y="1762125"/>
              <a:ext cx="371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100" b="0">
                  <a:solidFill>
                    <a:srgbClr val="64748B"/>
                  </a:solidFill>
                  <a:latin typeface="Work Sans"/>
                  <a:ea typeface="Work Sans"/>
                  <a:cs typeface="Work Sans"/>
                  <a:sym typeface="Work Sans"/>
                </a:rPr>
                <a:t>El servidor genera el HTML completo para cada solicitud. Ideal para SEO y tiempos de carga inicial rápidos en conexiones lentas.</a:t>
              </a:r>
              <a:endParaRPr sz="1100" b="0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pic>
          <p:nvPicPr>
            <p:cNvPr id="344" name="Google Shape;344;p41"/>
            <p:cNvPicPr preferRelativeResize="0"/>
            <p:nvPr/>
          </p:nvPicPr>
          <p:blipFill rotWithShape="1">
            <a:blip r:embed="rId4">
              <a:alphaModFix/>
            </a:blip>
            <a:srcRect t="700" b="700"/>
            <a:stretch/>
          </p:blipFill>
          <p:spPr>
            <a:xfrm>
              <a:off x="4857750" y="2476500"/>
              <a:ext cx="3714900" cy="2109600"/>
            </a:xfrm>
            <a:prstGeom prst="roundRect">
              <a:avLst>
                <a:gd name="adj" fmla="val 3809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2"/>
          <p:cNvSpPr txBox="1"/>
          <p:nvPr/>
        </p:nvSpPr>
        <p:spPr>
          <a:xfrm>
            <a:off x="421913" y="252472"/>
            <a:ext cx="724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100"/>
          </a:p>
        </p:txBody>
      </p:sp>
      <p:grpSp>
        <p:nvGrpSpPr>
          <p:cNvPr id="351" name="Google Shape;351;p42"/>
          <p:cNvGrpSpPr/>
          <p:nvPr/>
        </p:nvGrpSpPr>
        <p:grpSpPr>
          <a:xfrm>
            <a:off x="381000" y="1143000"/>
            <a:ext cx="4095900" cy="3619500"/>
            <a:chOff x="381000" y="1143000"/>
            <a:chExt cx="4095900" cy="3619500"/>
          </a:xfrm>
        </p:grpSpPr>
        <p:sp>
          <p:nvSpPr>
            <p:cNvPr id="352" name="Google Shape;352;p42"/>
            <p:cNvSpPr/>
            <p:nvPr/>
          </p:nvSpPr>
          <p:spPr>
            <a:xfrm>
              <a:off x="381000" y="1143000"/>
              <a:ext cx="4095900" cy="36195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42"/>
            <p:cNvSpPr txBox="1"/>
            <p:nvPr/>
          </p:nvSpPr>
          <p:spPr>
            <a:xfrm>
              <a:off x="571500" y="1333500"/>
              <a:ext cx="371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800" b="1">
                  <a:solidFill>
                    <a:srgbClr val="0F172A"/>
                  </a:solidFill>
                  <a:latin typeface="Work Sans"/>
                  <a:ea typeface="Work Sans"/>
                  <a:cs typeface="Work Sans"/>
                  <a:sym typeface="Work Sans"/>
                </a:rPr>
                <a:t>Thin Controllers</a:t>
              </a:r>
              <a:endParaRPr sz="1800" b="1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grpSp>
        <p:nvGrpSpPr>
          <p:cNvPr id="354" name="Google Shape;354;p42"/>
          <p:cNvGrpSpPr/>
          <p:nvPr/>
        </p:nvGrpSpPr>
        <p:grpSpPr>
          <a:xfrm>
            <a:off x="4667250" y="1143000"/>
            <a:ext cx="4095900" cy="3619500"/>
            <a:chOff x="4667250" y="1143000"/>
            <a:chExt cx="4095900" cy="3619500"/>
          </a:xfrm>
        </p:grpSpPr>
        <p:sp>
          <p:nvSpPr>
            <p:cNvPr id="355" name="Google Shape;355;p42"/>
            <p:cNvSpPr/>
            <p:nvPr/>
          </p:nvSpPr>
          <p:spPr>
            <a:xfrm>
              <a:off x="4667250" y="1143000"/>
              <a:ext cx="4095900" cy="3619500"/>
            </a:xfrm>
            <a:prstGeom prst="roundRect">
              <a:avLst>
                <a:gd name="adj" fmla="val 3947"/>
              </a:avLst>
            </a:prstGeom>
            <a:solidFill>
              <a:srgbClr val="FFFFFF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42"/>
            <p:cNvSpPr txBox="1"/>
            <p:nvPr/>
          </p:nvSpPr>
          <p:spPr>
            <a:xfrm>
              <a:off x="4811550" y="1224875"/>
              <a:ext cx="371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419" sz="1800" b="1">
                  <a:solidFill>
                    <a:srgbClr val="0F172A"/>
                  </a:solidFill>
                  <a:latin typeface="Work Sans"/>
                  <a:ea typeface="Work Sans"/>
                  <a:cs typeface="Work Sans"/>
                  <a:sym typeface="Work Sans"/>
                </a:rPr>
                <a:t>Service layer</a:t>
              </a:r>
              <a:endParaRPr sz="1800" b="1">
                <a:solidFill>
                  <a:srgbClr val="0F172A"/>
                </a:solidFill>
                <a:latin typeface="Work Sans"/>
                <a:ea typeface="Work Sans"/>
                <a:cs typeface="Work Sans"/>
                <a:sym typeface="Work Sans"/>
              </a:endParaRPr>
            </a:p>
          </p:txBody>
        </p:sp>
      </p:grpSp>
      <p:pic>
        <p:nvPicPr>
          <p:cNvPr id="357" name="Google Shape;35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2338617"/>
            <a:ext cx="3714900" cy="206288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58" name="Google Shape;358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0275" y="2255950"/>
            <a:ext cx="3637450" cy="2370473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42"/>
          <p:cNvSpPr txBox="1"/>
          <p:nvPr/>
        </p:nvSpPr>
        <p:spPr>
          <a:xfrm>
            <a:off x="571500" y="1812250"/>
            <a:ext cx="3714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rPr>
              <a:t>El controlador solo orquesta las peticiones, las recibe, llama el servicio y devuelve una respuesta.</a:t>
            </a:r>
            <a:endParaRPr sz="1100" b="0">
              <a:solidFill>
                <a:srgbClr val="64748B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60" name="Google Shape;360;p42"/>
          <p:cNvSpPr txBox="1"/>
          <p:nvPr/>
        </p:nvSpPr>
        <p:spPr>
          <a:xfrm>
            <a:off x="4811550" y="1642675"/>
            <a:ext cx="37149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solidFill>
                  <a:srgbClr val="64748B"/>
                </a:solidFill>
                <a:latin typeface="Work Sans"/>
                <a:ea typeface="Work Sans"/>
                <a:cs typeface="Work Sans"/>
                <a:sym typeface="Work Sans"/>
              </a:rPr>
              <a:t>Es la capa del proyecto que contiene la lógica del negocio, y maneja las transacciones dentro de las bases de datos ya sea Postgresql o Redis.</a:t>
            </a:r>
            <a:endParaRPr sz="1100" b="0">
              <a:solidFill>
                <a:srgbClr val="64748B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3"/>
          <p:cNvSpPr txBox="1"/>
          <p:nvPr/>
        </p:nvSpPr>
        <p:spPr>
          <a:xfrm>
            <a:off x="421913" y="252472"/>
            <a:ext cx="724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Funciones plpgsql </a:t>
            </a:r>
            <a:endParaRPr sz="1100"/>
          </a:p>
        </p:txBody>
      </p:sp>
      <p:sp>
        <p:nvSpPr>
          <p:cNvPr id="367" name="Google Shape;367;p43"/>
          <p:cNvSpPr/>
          <p:nvPr/>
        </p:nvSpPr>
        <p:spPr>
          <a:xfrm>
            <a:off x="381050" y="1143050"/>
            <a:ext cx="8433900" cy="392040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8" name="Google Shape;368;p43" title="ChatGPT Image 9 may 2026, 02_13_10 p.m.png"/>
          <p:cNvPicPr preferRelativeResize="0"/>
          <p:nvPr/>
        </p:nvPicPr>
        <p:blipFill rotWithShape="1">
          <a:blip r:embed="rId3">
            <a:alphaModFix/>
          </a:blip>
          <a:srcRect t="12511"/>
          <a:stretch/>
        </p:blipFill>
        <p:spPr>
          <a:xfrm>
            <a:off x="735313" y="1214050"/>
            <a:ext cx="7673381" cy="377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4"/>
          <p:cNvSpPr txBox="1"/>
          <p:nvPr/>
        </p:nvSpPr>
        <p:spPr>
          <a:xfrm>
            <a:off x="421913" y="252472"/>
            <a:ext cx="724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Patrones Redis - Write-behind</a:t>
            </a:r>
            <a:endParaRPr sz="1100"/>
          </a:p>
        </p:txBody>
      </p:sp>
      <p:pic>
        <p:nvPicPr>
          <p:cNvPr id="375" name="Google Shape;375;p44" title="write_behi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2037" y="1121775"/>
            <a:ext cx="5919924" cy="3946601"/>
          </a:xfrm>
          <a:prstGeom prst="rect">
            <a:avLst/>
          </a:prstGeom>
          <a:solidFill>
            <a:srgbClr val="FFFFFF"/>
          </a:solidFill>
          <a:ln w="7650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5"/>
          <p:cNvSpPr txBox="1"/>
          <p:nvPr/>
        </p:nvSpPr>
        <p:spPr>
          <a:xfrm>
            <a:off x="421913" y="252472"/>
            <a:ext cx="724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Patrones Redis - Cache Aside</a:t>
            </a:r>
            <a:endParaRPr sz="1100"/>
          </a:p>
        </p:txBody>
      </p:sp>
      <p:pic>
        <p:nvPicPr>
          <p:cNvPr id="382" name="Google Shape;382;p45" title="cache_asi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8125" y="1117275"/>
            <a:ext cx="5965202" cy="3976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6"/>
          <p:cNvSpPr txBox="1"/>
          <p:nvPr/>
        </p:nvSpPr>
        <p:spPr>
          <a:xfrm>
            <a:off x="421913" y="252472"/>
            <a:ext cx="72414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Referencias</a:t>
            </a:r>
            <a:endParaRPr sz="1100"/>
          </a:p>
        </p:txBody>
      </p:sp>
      <p:sp>
        <p:nvSpPr>
          <p:cNvPr id="389" name="Google Shape;389;p46"/>
          <p:cNvSpPr txBox="1"/>
          <p:nvPr/>
        </p:nvSpPr>
        <p:spPr>
          <a:xfrm>
            <a:off x="668825" y="1473000"/>
            <a:ext cx="7524300" cy="24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>
                <a:solidFill>
                  <a:schemeClr val="dk1"/>
                </a:solidFill>
              </a:rPr>
              <a:t>Artesanías de Colombia.</a:t>
            </a:r>
            <a:r>
              <a:rPr lang="es-419" sz="1100">
                <a:solidFill>
                  <a:schemeClr val="dk1"/>
                </a:solidFill>
              </a:rPr>
              <a:t> (2025). </a:t>
            </a:r>
            <a:r>
              <a:rPr lang="es-419" sz="1100" i="1">
                <a:solidFill>
                  <a:schemeClr val="dk1"/>
                </a:solidFill>
              </a:rPr>
              <a:t>Informe de Gestión 2025 - ¿Cómo vamos?</a:t>
            </a:r>
            <a:r>
              <a:rPr lang="es-419" sz="1100">
                <a:solidFill>
                  <a:schemeClr val="dk1"/>
                </a:solidFill>
              </a:rPr>
              <a:t>. Subgerencia de Desarrollo y Fortalecimiento del Sector Artesanal.</a:t>
            </a:r>
            <a:r>
              <a:rPr lang="es-419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419" sz="1100" u="sng">
                <a:solidFill>
                  <a:schemeClr val="hlink"/>
                </a:solidFill>
                <a:hlinkClick r:id="rId3"/>
              </a:rPr>
              <a:t>https://www.artesaniasdecolombia.com.co/document/documentos/Version_final_copia.pdf</a:t>
            </a:r>
            <a:endParaRPr sz="1100" u="sng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u="sng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100" b="1">
                <a:solidFill>
                  <a:schemeClr val="dk1"/>
                </a:solidFill>
              </a:rPr>
              <a:t>Departamento Administrativo Nacional de Estadística (DANE).</a:t>
            </a:r>
            <a:r>
              <a:rPr lang="es-419" sz="1100">
                <a:solidFill>
                  <a:schemeClr val="dk1"/>
                </a:solidFill>
              </a:rPr>
              <a:t> (2025). </a:t>
            </a:r>
            <a:r>
              <a:rPr lang="es-419" sz="1100" i="1">
                <a:solidFill>
                  <a:schemeClr val="dk1"/>
                </a:solidFill>
              </a:rPr>
              <a:t>Cuenta Satélite de Economía Cultural y Creativa (CSECC) 2022-2024 preliminar</a:t>
            </a:r>
            <a:r>
              <a:rPr lang="es-419" sz="1100">
                <a:solidFill>
                  <a:schemeClr val="dk1"/>
                </a:solidFill>
              </a:rPr>
              <a:t>. Boletín Técnico.</a:t>
            </a:r>
            <a:r>
              <a:rPr lang="es-419" sz="1100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419" sz="1100" u="sng">
                <a:solidFill>
                  <a:schemeClr val="hlink"/>
                </a:solidFill>
                <a:hlinkClick r:id="rId4"/>
              </a:rPr>
              <a:t>https://www.dane.gov.co/files/operaciones/CSECC/bol-CSECC-2024pr.pdf</a:t>
            </a:r>
            <a:endParaRPr sz="1100" u="sng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1169</Words>
  <Application>Microsoft Office PowerPoint</Application>
  <PresentationFormat>Presentación en pantalla (16:9)</PresentationFormat>
  <Paragraphs>116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16</vt:i4>
      </vt:variant>
    </vt:vector>
  </HeadingPairs>
  <TitlesOfParts>
    <vt:vector size="26" baseType="lpstr">
      <vt:lpstr>Lato</vt:lpstr>
      <vt:lpstr>Calibri</vt:lpstr>
      <vt:lpstr>Arial</vt:lpstr>
      <vt:lpstr>Urbanist</vt:lpstr>
      <vt:lpstr>Work Sans ExtraBold</vt:lpstr>
      <vt:lpstr>Work Sans Black</vt:lpstr>
      <vt:lpstr>Work Sans SemiBold</vt:lpstr>
      <vt:lpstr>Work Sans</vt:lpstr>
      <vt:lpstr>Tema de Office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sena cset</cp:lastModifiedBy>
  <cp:revision>1</cp:revision>
  <dcterms:modified xsi:type="dcterms:W3CDTF">2026-05-09T20:47:02Z</dcterms:modified>
</cp:coreProperties>
</file>